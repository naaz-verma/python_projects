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 — The Hook (3 min)</a:t>
            </a:r>
          </a:p>
          <a:p/>
          <a:p>
            <a:r>
              <a:t>Walk in confidently. Let the slide sit for 5 seconds. Then:</a:t>
            </a:r>
          </a:p>
          <a:p/>
          <a:p>
            <a:r>
              <a:t>ASK: "Quick show of hands — who here has used ChatGPT?"</a:t>
            </a:r>
          </a:p>
          <a:p>
            <a:r>
              <a:t>[Almost every hand goes up]</a:t>
            </a:r>
          </a:p>
          <a:p/>
          <a:p>
            <a:r>
              <a:t>"Great. Now keep your hand up if you actually know HOW ChatGPT works."</a:t>
            </a:r>
          </a:p>
          <a:p>
            <a:r>
              <a:t>[Most hands go down]</a:t>
            </a:r>
          </a:p>
          <a:p/>
          <a:p>
            <a:r>
              <a:t>[Pause. Let that land.]</a:t>
            </a:r>
          </a:p>
          <a:p/>
          <a:p>
            <a:r>
              <a:t>"That gap you just saw — that's the entire career opportunity we're talking about today.</a:t>
            </a:r>
          </a:p>
          <a:p>
            <a:r>
              <a:t>Consumers use AI. Professionals BUILD with AI."</a:t>
            </a:r>
          </a:p>
          <a:p/>
          <a:p>
            <a:r>
              <a:t>"One year from now, every company — healthcare, banking, retail, entertainment —</a:t>
            </a:r>
          </a:p>
          <a:p>
            <a:r>
              <a:t>will run on AI. The question is simple: are you going to be the one using it,</a:t>
            </a:r>
          </a:p>
          <a:p>
            <a:r>
              <a:t>or the one who BUILT it?"</a:t>
            </a:r>
          </a:p>
          <a:p/>
          <a:p>
            <a:r>
              <a:t>Transition: "Let me show you what's really happening out there first."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— Reality Check (3 min)</a:t>
            </a:r>
          </a:p>
          <a:p/>
          <a:p>
            <a:r>
              <a:t>"Look at this. In 2010, companies were hiring for typing and data entry.</a:t>
            </a:r>
          </a:p>
          <a:p>
            <a:r>
              <a:t>By 2020, you needed to know apps and social media.</a:t>
            </a:r>
          </a:p>
          <a:p>
            <a:r>
              <a:t>In 2030 — which is only 4 years away — the most in-demand roles are ALL AI roles."</a:t>
            </a:r>
          </a:p>
          <a:p/>
          <a:p>
            <a:r>
              <a:t>Point to the 2030 column:</a:t>
            </a:r>
          </a:p>
          <a:p>
            <a:r>
              <a:t>"AI Engineer. Prompt Engineer. AI Automation Consultant. AI Agent Developer.</a:t>
            </a:r>
          </a:p>
          <a:p>
            <a:r>
              <a:t>These jobs DIDN'T EXIST 5 years ago. And they're already paying more than traditional IT."</a:t>
            </a:r>
          </a:p>
          <a:p/>
          <a:p>
            <a:r>
              <a:t>Key message:</a:t>
            </a:r>
          </a:p>
          <a:p>
            <a:r>
              <a:t>"Here's the truth: AI won't replace everyone. But people using AI WILL replace</a:t>
            </a:r>
          </a:p>
          <a:p>
            <a:r>
              <a:t>people who don't. The choice isn't AI vs humans — it's AI-skilled humans vs unskilled ones."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— AI Is Already Everywhere (3 min)</a:t>
            </a:r>
          </a:p>
          <a:p/>
          <a:p>
            <a:r>
              <a:t>"Before we talk about learning AI, let me show you something."</a:t>
            </a:r>
          </a:p>
          <a:p/>
          <a:p>
            <a:r>
              <a:t>Point to Netflix: "How does Netflix know exactly what to recommend after you finish a show?"</a:t>
            </a:r>
          </a:p>
          <a:p>
            <a:r>
              <a:t>[Let someone answer]</a:t>
            </a:r>
          </a:p>
          <a:p/>
          <a:p>
            <a:r>
              <a:t>"How does Instagram decide which posts show up first? How does Spotify build your</a:t>
            </a:r>
          </a:p>
          <a:p>
            <a:r>
              <a:t>Discover Weekly playlist? How does Google Maps know there's traffic ahead?"</a:t>
            </a:r>
          </a:p>
          <a:p/>
          <a:p>
            <a:r>
              <a:t>"Every single one of these is AI. You use it 50 times a day without thinking about it."</a:t>
            </a:r>
          </a:p>
          <a:p/>
          <a:p>
            <a:r>
              <a:t>"These companies — Netflix, Amazon, Google — employ thousands of AI engineers.</a:t>
            </a:r>
          </a:p>
          <a:p>
            <a:r>
              <a:t>Each one started exactly where you are."</a:t>
            </a:r>
          </a:p>
          <a:p/>
          <a:p>
            <a:r>
              <a:t>Transition: "And this is just the beginning. The gold rush is happening RIGHT NOW."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— The AI Gold Rush (3 min)</a:t>
            </a:r>
          </a:p>
          <a:p/>
          <a:p>
            <a:r>
              <a:t>"Look at these numbers. OpenAI — over $150 billion. Nvidia — over $3 TRILLION.</a:t>
            </a:r>
          </a:p>
          <a:p>
            <a:r>
              <a:t>These aren't just tech companies any more. They are the new oil."</a:t>
            </a:r>
          </a:p>
          <a:p/>
          <a:p>
            <a:r>
              <a:t>"And the demand isn't just in Silicon Valley. Healthcare companies need AI to read scans.</a:t>
            </a:r>
          </a:p>
          <a:p>
            <a:r>
              <a:t>Banks need AI for fraud detection. Retailers need AI for recommendations.</a:t>
            </a:r>
          </a:p>
          <a:p>
            <a:r>
              <a:t>Every sector you can think of — they all need people who understand AI."</a:t>
            </a:r>
          </a:p>
          <a:p/>
          <a:p>
            <a:r>
              <a:t>"India alone is projected to have 1 million AI job openings by 2026.</a:t>
            </a:r>
          </a:p>
          <a:p>
            <a:r>
              <a:t>The talent supply isn't keeping up. That is the gap you can fill."</a:t>
            </a:r>
          </a:p>
          <a:p/>
          <a:p>
            <a:r>
              <a:t>Transition: "Let me show you what AI can actually DO — live, right now."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— Demo #1: AI Image Generation (3-4 min)</a:t>
            </a:r>
          </a:p>
          <a:p/>
          <a:p>
            <a:r>
              <a:t>[Open Midjourney / DALL-E / Adobe Firefly in browser]</a:t>
            </a:r>
          </a:p>
          <a:p/>
          <a:p>
            <a:r>
              <a:t>"I'm going to type one sentence. Watch what happens."</a:t>
            </a:r>
          </a:p>
          <a:p/>
          <a:p>
            <a:r>
              <a:t>Type the prompt live: "Create a Nike advertisement with a futuristic athlete running on neon streets"</a:t>
            </a:r>
          </a:p>
          <a:p/>
          <a:p>
            <a:r>
              <a:t>[Show result — pause for reactions]</a:t>
            </a:r>
          </a:p>
          <a:p/>
          <a:p>
            <a:r>
              <a:t>"How long would a professional designer take for this? At least 2-3 hours.</a:t>
            </a:r>
          </a:p>
          <a:p>
            <a:r>
              <a:t>AI did it in 8 seconds."</a:t>
            </a:r>
          </a:p>
          <a:p/>
          <a:p>
            <a:r>
              <a:t>"Now here's the key insight: the AI didn't think of that idea. I did.</a:t>
            </a:r>
          </a:p>
          <a:p>
            <a:r>
              <a:t>The creativity, the brief, the direction — that still comes from a human.</a:t>
            </a:r>
          </a:p>
          <a:p>
            <a:r>
              <a:t>AI is the execution engine. The human is still the strategist."</a:t>
            </a:r>
          </a:p>
          <a:p/>
          <a:p>
            <a:r>
              <a:t>"This is the new creative workflow. And companies are hiring people who know it."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 — Demo #2: AI Website Builder (3 min)</a:t>
            </a:r>
          </a:p>
          <a:p/>
          <a:p>
            <a:r>
              <a:t>[Open v0.dev / Cursor / Bolt.new or similar AI web builder]</a:t>
            </a:r>
          </a:p>
          <a:p/>
          <a:p>
            <a:r>
              <a:t>"Now let's build a website. Whole website. In 60 seconds."</a:t>
            </a:r>
          </a:p>
          <a:p/>
          <a:p>
            <a:r>
              <a:t>[Type prompt and show result live]</a:t>
            </a:r>
          </a:p>
          <a:p/>
          <a:p>
            <a:r>
              <a:t>"Full HTML, CSS, responsive design — done.</a:t>
            </a:r>
          </a:p>
          <a:p/>
          <a:p>
            <a:r>
              <a:t>A freelance developer would charge ₹15,000–₹50,000 for this.</a:t>
            </a:r>
          </a:p>
          <a:p>
            <a:r>
              <a:t>A student who knows how to direct AI tools can deliver this in a client meeting.</a:t>
            </a:r>
          </a:p>
          <a:p/>
          <a:p>
            <a:r>
              <a:t>This is NOT the end of web development. It's the beginning of AI-assisted development.</a:t>
            </a:r>
          </a:p>
          <a:p>
            <a:r>
              <a:t>The programmers who survive — and thrive — are the ones who understand what the AI is doing</a:t>
            </a:r>
          </a:p>
          <a:p>
            <a:r>
              <a:t>well enough to direct it, fix it, and improve it."</a:t>
            </a:r>
          </a:p>
          <a:p/>
          <a:p>
            <a:r>
              <a:t>Transition: "Let me show you something even wilder."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 — Demo #3: AI Voice Clone (3 min)</a:t>
            </a:r>
          </a:p>
          <a:p/>
          <a:p>
            <a:r>
              <a:t>[Open ElevenLabs or similar voice cloning tool]</a:t>
            </a:r>
          </a:p>
          <a:p/>
          <a:p>
            <a:r>
              <a:t>"This one always gets a reaction."</a:t>
            </a:r>
          </a:p>
          <a:p/>
          <a:p>
            <a:r>
              <a:t>[Record or play your own voice — then play the AI clone]</a:t>
            </a:r>
          </a:p>
          <a:p/>
          <a:p>
            <a:r>
              <a:t>"Same voice. Different source. The AI learned from 10 seconds of audio."</a:t>
            </a:r>
          </a:p>
          <a:p/>
          <a:p>
            <a:r>
              <a:t>[Pause for audience reaction — let them process it]</a:t>
            </a:r>
          </a:p>
          <a:p/>
          <a:p>
            <a:r>
              <a:t>"Now — this is powerful. And like all powerful tools, it has a good side and a concerning side.</a:t>
            </a:r>
          </a:p>
          <a:p>
            <a:r>
              <a:t>The good side: AI voices are used in audiobooks, accessibility tools, language learning,</a:t>
            </a:r>
          </a:p>
          <a:p>
            <a:r>
              <a:t>customer service. The concerning side is why we need people who UNDERSTAND how this works —</a:t>
            </a:r>
          </a:p>
          <a:p>
            <a:r>
              <a:t>not just people who use it without thinking."</a:t>
            </a:r>
          </a:p>
          <a:p/>
          <a:p>
            <a:r>
              <a:t>"Every powerful technology requires educated, ethical builders. That's what we're training."</a:t>
            </a:r>
          </a:p>
          <a:p/>
          <a:p>
            <a:r>
              <a:t>Transition: "Now let me show you the demo that companies are actually paying for today."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8 — Demo #4: AI Agent (5 min — STRONGEST DEMO)</a:t>
            </a:r>
          </a:p>
          <a:p/>
          <a:p>
            <a:r>
              <a:t>This is your most important demo. Take your time.</a:t>
            </a:r>
          </a:p>
          <a:p/>
          <a:p>
            <a:r>
              <a:t>[If possible, show a live n8n / Make / custom Python agent workflow]</a:t>
            </a:r>
          </a:p>
          <a:p/>
          <a:p>
            <a:r>
              <a:t>"This is an AI agent. It's not a chatbot. It doesn't just answer questions —</a:t>
            </a:r>
          </a:p>
          <a:p>
            <a:r>
              <a:t>it ACTS. It connects to your WhatsApp, your CRM, your spreadsheet, your calendar.</a:t>
            </a:r>
          </a:p>
          <a:p>
            <a:r>
              <a:t>All automatically."</a:t>
            </a:r>
          </a:p>
          <a:p/>
          <a:p>
            <a:r>
              <a:t>Walk through each step:</a:t>
            </a:r>
          </a:p>
          <a:p>
            <a:r>
              <a:t>"A student fills in a form on the website at 2am.</a:t>
            </a:r>
          </a:p>
          <a:p>
            <a:r>
              <a:t>The AI replies within 3 seconds. Answers questions about the course, fee, schedule.</a:t>
            </a:r>
          </a:p>
          <a:p>
            <a:r>
              <a:t>Qualifies whether this student is a good fit.</a:t>
            </a:r>
          </a:p>
          <a:p>
            <a:r>
              <a:t>If yes — sends a WhatsApp message automatically.</a:t>
            </a:r>
          </a:p>
          <a:p>
            <a:r>
              <a:t>Updates the admissions spreadsheet.</a:t>
            </a:r>
          </a:p>
          <a:p>
            <a:r>
              <a:t>Generates a morning report for the counsellor."</a:t>
            </a:r>
          </a:p>
          <a:p/>
          <a:p>
            <a:r>
              <a:t>"Zero human involvement. The counsellor comes in the morning and sees qualified, warm leads.</a:t>
            </a:r>
          </a:p>
          <a:p>
            <a:r>
              <a:t>Not cold calls."</a:t>
            </a:r>
          </a:p>
          <a:p/>
          <a:p>
            <a:r>
              <a:t>"Businesses are actively paying for this skill RIGHT NOW. Not in 5 years. Today.</a:t>
            </a:r>
          </a:p>
          <a:p>
            <a:r>
              <a:t>This is Level 6 of what you'll learn at WorldWithWeb."</a:t>
            </a:r>
          </a:p>
          <a:p/>
          <a:p>
            <a:r>
              <a:t>[Pause for effect]</a:t>
            </a:r>
          </a:p>
          <a:p/>
          <a:p>
            <a:r>
              <a:t>"Now — can anyone learn this? Let me show you."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9 — Can Anyone Learn AI? (2 min)</a:t>
            </a:r>
          </a:p>
          <a:p/>
          <a:p>
            <a:r>
              <a:t>"I get this question every session. 'Is AI only for engineers? Do I need to be a programmer?'</a:t>
            </a:r>
          </a:p>
          <a:p/>
          <a:p>
            <a:r>
              <a:t>Here's the truth:"</a:t>
            </a:r>
          </a:p>
          <a:p/>
          <a:p>
            <a:r>
              <a:t>[Point to the MYTH column]</a:t>
            </a:r>
          </a:p>
          <a:p>
            <a:r>
              <a:t>"AI is NOT only for engineers. NOT only for people who already code.</a:t>
            </a:r>
          </a:p>
          <a:p>
            <a:r>
              <a:t>NOT only for toppers."</a:t>
            </a:r>
          </a:p>
          <a:p/>
          <a:p>
            <a:r>
              <a:t>[Point to the REALITY column]</a:t>
            </a:r>
          </a:p>
          <a:p>
            <a:r>
              <a:t>"Students from any stream — arts, commerce, science — can learn this.</a:t>
            </a:r>
          </a:p>
          <a:p>
            <a:r>
              <a:t>Freshers can learn this. Working professionals can upskill.</a:t>
            </a:r>
          </a:p>
          <a:p>
            <a:r>
              <a:t>Business owners can automate their entire operations."</a:t>
            </a:r>
          </a:p>
          <a:p/>
          <a:p>
            <a:r>
              <a:t>"The only requirement is curiosity and consistency.</a:t>
            </a:r>
          </a:p>
          <a:p>
            <a:r>
              <a:t>We take care of the structure, the projects, and the mentorship."</a:t>
            </a:r>
          </a:p>
          <a:p/>
          <a:p>
            <a:r>
              <a:t>Transition: "So what does the actual learning path look like? Let me show you."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10 — Your Journey (4 min)</a:t>
            </a:r>
          </a:p>
          <a:p/>
          <a:p>
            <a:r>
              <a:t>"Let me show you the full roadmap. This is what your learning journey looks like."</a:t>
            </a:r>
          </a:p>
          <a:p/>
          <a:p>
            <a:r>
              <a:t>Walk through each level:</a:t>
            </a:r>
          </a:p>
          <a:p>
            <a:r>
              <a:t>"Level 1: Python. The language of AI. Everything starts here.</a:t>
            </a:r>
          </a:p>
          <a:p>
            <a:r>
              <a:t>Level 2: Data Analysis. Because AI runs on data — you need to understand it.</a:t>
            </a:r>
          </a:p>
          <a:p>
            <a:r>
              <a:t>Level 3: Machine Learning. Teaching computers to learn patterns.</a:t>
            </a:r>
          </a:p>
          <a:p>
            <a:r>
              <a:t>Level 4: AI. Computer vision, natural language processing.</a:t>
            </a:r>
          </a:p>
          <a:p>
            <a:r>
              <a:t>Level 5: Generative AI. Building with ChatGPT, Claude, Gemini.</a:t>
            </a:r>
          </a:p>
          <a:p>
            <a:r>
              <a:t>Level 6: AI Agents. Autonomous systems that act without humans.</a:t>
            </a:r>
          </a:p>
          <a:p>
            <a:r>
              <a:t>Level 7: Industry Projects. Real client-grade work in your portfolio.</a:t>
            </a:r>
          </a:p>
          <a:p>
            <a:r>
              <a:t>Level 8: Job Ready. Interview prep, portfolio, LinkedIn, referrals."</a:t>
            </a:r>
          </a:p>
          <a:p/>
          <a:p>
            <a:r>
              <a:t>"Think of this like a video game. You can't skip to Level 6 without the foundation.</a:t>
            </a:r>
          </a:p>
          <a:p>
            <a:r>
              <a:t>But every single level builds directly on the last. There's no wasted time."</a:t>
            </a:r>
          </a:p>
          <a:p/>
          <a:p>
            <a:r>
              <a:t>"This entire journey can be done part-time — alongside college or work.</a:t>
            </a:r>
          </a:p>
          <a:p>
            <a:r>
              <a:t>And we have a project at every single level, so you're building from Day 1."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11 — Python (2 min)</a:t>
            </a:r>
          </a:p>
          <a:p/>
          <a:p>
            <a:r>
              <a:t>"Every journey starts with Python. It's not just a programming language —</a:t>
            </a:r>
          </a:p>
          <a:p>
            <a:r>
              <a:t>it's the language that ALL of AI is built in.</a:t>
            </a:r>
          </a:p>
          <a:p>
            <a:r>
              <a:t>GPT. Stable Diffusion. TensorFlow. All Python under the hood."</a:t>
            </a:r>
          </a:p>
          <a:p/>
          <a:p>
            <a:r>
              <a:t>"In the Python module, you'll build four projects:</a:t>
            </a:r>
          </a:p>
          <a:p>
            <a:r>
              <a:t>A calculator — sounds simple, but it teaches you how to THINK like a programmer.</a:t>
            </a:r>
          </a:p>
          <a:p>
            <a:r>
              <a:t>Automation scripts — imagine writing code that does your boring Excel work for you.</a:t>
            </a:r>
          </a:p>
          <a:p>
            <a:r>
              <a:t>Data processing — you'll work with real data from companies.</a:t>
            </a:r>
          </a:p>
          <a:p>
            <a:r>
              <a:t>And your first chatbot — no machine learning needed, pure logic."</a:t>
            </a:r>
          </a:p>
          <a:p/>
          <a:p>
            <a:r>
              <a:t>"No experience needed at all. We start from zero. If you can send a WhatsApp, you can learn Python."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12 — Data Science (2 min)</a:t>
            </a:r>
          </a:p>
          <a:p/>
          <a:p>
            <a:r>
              <a:t>"Data Science is where Python meets the real world.</a:t>
            </a:r>
          </a:p>
          <a:p>
            <a:r>
              <a:t>Every AI model learns from data. If you don't understand data, you can't build AI."</a:t>
            </a:r>
          </a:p>
          <a:p/>
          <a:p>
            <a:r>
              <a:t>"In this module, you'll analyse real business datasets:</a:t>
            </a:r>
          </a:p>
          <a:p>
            <a:r>
              <a:t>Sales data — finding which products are growing, which are dying.</a:t>
            </a:r>
          </a:p>
          <a:p>
            <a:r>
              <a:t>Customer data — grouping people by behaviour, predicting churn.</a:t>
            </a:r>
          </a:p>
          <a:p>
            <a:r>
              <a:t>And you'll build an interactive dashboard that any business owner would actually use."</a:t>
            </a:r>
          </a:p>
          <a:p/>
          <a:p>
            <a:r>
              <a:t>"By the end, you'll be comfortable with Pandas, Matplotlib, Plotly — the standard tools</a:t>
            </a:r>
          </a:p>
          <a:p>
            <a:r>
              <a:t>every data team uses."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13 — Machine Learning (2 min)</a:t>
            </a:r>
          </a:p>
          <a:p/>
          <a:p>
            <a:r>
              <a:t>"Machine learning is where things get exciting. You're not writing rules any more —</a:t>
            </a:r>
          </a:p>
          <a:p>
            <a:r>
              <a:t>you're teaching the computer to find patterns in data by itself."</a:t>
            </a:r>
          </a:p>
          <a:p/>
          <a:p>
            <a:r>
              <a:t>"Three projects here:</a:t>
            </a:r>
          </a:p>
          <a:p>
            <a:r>
              <a:t>House price prediction — a classic ML problem. You'll use real estate data.</a:t>
            </a:r>
          </a:p>
          <a:p>
            <a:r>
              <a:t>Employee attrition — companies actually PAY for this. Predict who's going to leave.</a:t>
            </a:r>
          </a:p>
          <a:p>
            <a:r>
              <a:t>Movie recommendation — this is the Netflix algorithm. You'll build it yourself."</a:t>
            </a:r>
          </a:p>
          <a:p/>
          <a:p>
            <a:r>
              <a:t>"You mentioned Netflix on Slide 3 — well, here's where you actually BUILD that system."</a:t>
            </a:r>
          </a:p>
          <a:p/>
          <a:p>
            <a:r>
              <a:t>"Tools: Scikit-learn, Pandas. Industry standard. Every ML job uses these."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14 — Artificial Intelligence (2 min)</a:t>
            </a:r>
          </a:p>
          <a:p/>
          <a:p>
            <a:r>
              <a:t>"Now we're into real AI. This is where you build systems that can SEE and READ."</a:t>
            </a:r>
          </a:p>
          <a:p/>
          <a:p>
            <a:r>
              <a:t>"Computer Vision: you'll build a model that can identify objects in photos.</a:t>
            </a:r>
          </a:p>
          <a:p>
            <a:r>
              <a:t>Same technology self-driving cars use — at a beginner level.</a:t>
            </a:r>
          </a:p>
          <a:p>
            <a:r>
              <a:t>NLP: teaching AI to understand human language — sentiment, meaning, intent.</a:t>
            </a:r>
          </a:p>
          <a:p>
            <a:r>
              <a:t>Face Detection: real-time face recognition using a webcam. Students love this one.</a:t>
            </a:r>
          </a:p>
          <a:p>
            <a:r>
              <a:t>OCR: extract text from any image or PDF automatically — massive for document processing."</a:t>
            </a:r>
          </a:p>
          <a:p/>
          <a:p>
            <a:r>
              <a:t>"These are production-grade AI techniques. Used in healthcare, security, banking."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15 — Generative AI (2 min)</a:t>
            </a:r>
          </a:p>
          <a:p/>
          <a:p>
            <a:r>
              <a:t>"You've all used ChatGPT. Maybe Gemini. Maybe Midjourney.</a:t>
            </a:r>
          </a:p>
          <a:p>
            <a:r>
              <a:t>But there's a massive difference between using them and building WITH them."</a:t>
            </a:r>
          </a:p>
          <a:p/>
          <a:p>
            <a:r>
              <a:t>"At Level 5, you'll learn prompt engineering — how to get precise, professional output from AI.</a:t>
            </a:r>
          </a:p>
          <a:p>
            <a:r>
              <a:t>API integration — connecting ChatGPT or Claude to your own applications.</a:t>
            </a:r>
          </a:p>
          <a:p>
            <a:r>
              <a:t>RAG systems — giving AI a private knowledge base. Imagine a chatbot trained on YOUR company's data.</a:t>
            </a:r>
          </a:p>
          <a:p>
            <a:r>
              <a:t>Fine-tuning — adapting a pre-trained model for a specific task or domain."</a:t>
            </a:r>
          </a:p>
          <a:p/>
          <a:p>
            <a:r>
              <a:t>"This is what separates a ChatGPT user from an AI developer."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16 — AI Agents (3 min)</a:t>
            </a:r>
          </a:p>
          <a:p/>
          <a:p>
            <a:r>
              <a:t>"This is the slide I want you to remember. This is the most valuable skill in AI right now."</a:t>
            </a:r>
          </a:p>
          <a:p/>
          <a:p>
            <a:r>
              <a:t>"An AI agent is not just a chatbot. It ACTS. It makes decisions. It connects to other tools.</a:t>
            </a:r>
          </a:p>
          <a:p>
            <a:r>
              <a:t>It runs 24/7 without breaks or errors."</a:t>
            </a:r>
          </a:p>
          <a:p/>
          <a:p>
            <a:r>
              <a:t>Walk through the flow:</a:t>
            </a:r>
          </a:p>
          <a:p>
            <a:r>
              <a:t>"Lead comes in. AI agent reads it, decides if it's qualified.</a:t>
            </a:r>
          </a:p>
          <a:p>
            <a:r>
              <a:t>If yes — WhatsApp goes out automatically. No human needed.</a:t>
            </a:r>
          </a:p>
          <a:p>
            <a:r>
              <a:t>The CRM gets updated. The spreadsheet gets updated. A daily report is generated.</a:t>
            </a:r>
          </a:p>
          <a:p>
            <a:r>
              <a:t>Your counsellor wakes up to warm, qualified leads in their inbox."</a:t>
            </a:r>
          </a:p>
          <a:p/>
          <a:p>
            <a:r>
              <a:t>"Businesses are paying serious money for this.</a:t>
            </a:r>
          </a:p>
          <a:p>
            <a:r>
              <a:t>A good AI automation consultant charges ₹50,000 to ₹2 lakh per project.</a:t>
            </a:r>
          </a:p>
          <a:p>
            <a:r>
              <a:t>And companies are paying monthly retainers to maintain these systems."</a:t>
            </a:r>
          </a:p>
          <a:p/>
          <a:p>
            <a:r>
              <a:t>"This is what you'll be able to build after Level 6."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17 — Career Paths (3 min)</a:t>
            </a:r>
          </a:p>
          <a:p/>
          <a:p>
            <a:r>
              <a:t>"Let's talk about where this actually takes you."</a:t>
            </a:r>
          </a:p>
          <a:p/>
          <a:p>
            <a:r>
              <a:t>Go through each role briefly:</a:t>
            </a:r>
          </a:p>
          <a:p>
            <a:r>
              <a:t>"AI Engineer — builds AI systems. One of the fastest-growing roles.</a:t>
            </a:r>
          </a:p>
          <a:p>
            <a:r>
              <a:t>ML Engineer — specialises in training and deploying models.</a:t>
            </a:r>
          </a:p>
          <a:p>
            <a:r>
              <a:t>Data Scientist — the person companies trust to make decisions from data.</a:t>
            </a:r>
          </a:p>
          <a:p>
            <a:r>
              <a:t>Data Analyst — entry-level, but high demand. Great starting point.</a:t>
            </a:r>
          </a:p>
          <a:p>
            <a:r>
              <a:t>AI Consultant — helps businesses implement AI. Can be freelance or corporate.</a:t>
            </a:r>
          </a:p>
          <a:p>
            <a:r>
              <a:t>Prompt Engineer — newer role, but real and in-demand.</a:t>
            </a:r>
          </a:p>
          <a:p>
            <a:r>
              <a:t>AI Automation Specialist — exactly what we showed in Demo 4.</a:t>
            </a:r>
          </a:p>
          <a:p>
            <a:r>
              <a:t>AI Product Manager — leads AI product development, no coding required."</a:t>
            </a:r>
          </a:p>
          <a:p/>
          <a:p>
            <a:r>
              <a:t>"These salary numbers are realistic — not hype. They're entry to 3-year-experience ranges.</a:t>
            </a:r>
          </a:p>
          <a:p>
            <a:r>
              <a:t>Freelancing can take you significantly higher."</a:t>
            </a:r>
          </a:p>
          <a:p/>
          <a:p>
            <a:r>
              <a:t>IMPORTANT: "I'm not promising you'll land these roles in 3 months.</a:t>
            </a:r>
          </a:p>
          <a:p>
            <a:r>
              <a:t>What I'm saying is: this is where the market is going, and the earlier you build skills,</a:t>
            </a:r>
          </a:p>
          <a:p>
            <a:r>
              <a:t>the more time compounding works in your favour."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18 — Projects Showcase (3 min)</a:t>
            </a:r>
          </a:p>
          <a:p/>
          <a:p>
            <a:r>
              <a:t>"Here's what you'll actually build. Not assignments. Not theory exercises. Real projects."</a:t>
            </a:r>
          </a:p>
          <a:p/>
          <a:p>
            <a:r>
              <a:t>"A chatbot — your first AI that talks.</a:t>
            </a:r>
          </a:p>
          <a:p>
            <a:r>
              <a:t>A recommendation system — like Netflix, built by you.</a:t>
            </a:r>
          </a:p>
          <a:p>
            <a:r>
              <a:t>Resume screening AI — automates the first round of hiring.</a:t>
            </a:r>
          </a:p>
          <a:p>
            <a:r>
              <a:t>AI interview assistant — helps candidates prepare for interviews.</a:t>
            </a:r>
          </a:p>
          <a:p>
            <a:r>
              <a:t>AI sales agent — qualifies and follows up with leads automatically.</a:t>
            </a:r>
          </a:p>
          <a:p>
            <a:r>
              <a:t>AI content generator — writes blogs, social posts, ad copy on demand.</a:t>
            </a:r>
          </a:p>
          <a:p>
            <a:r>
              <a:t>AI business automation — connects your business tools with AI.</a:t>
            </a:r>
          </a:p>
          <a:p>
            <a:r>
              <a:t>And a capstone SaaS app — a real, deployable product."</a:t>
            </a:r>
          </a:p>
          <a:p/>
          <a:p>
            <a:r>
              <a:t>"When you walk into an interview and open your laptop and show these —</a:t>
            </a:r>
          </a:p>
          <a:p>
            <a:r>
              <a:t>no one asks where you graduated from.</a:t>
            </a:r>
          </a:p>
          <a:p>
            <a:r>
              <a:t>They ask: 'When can you start?'"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19 — Why WorldWithWeb (2 min)</a:t>
            </a:r>
          </a:p>
          <a:p/>
          <a:p>
            <a:r>
              <a:t>"Before I tell you how to enroll, let me tell you WHY WorldWithWeb is different."</a:t>
            </a:r>
          </a:p>
          <a:p/>
          <a:p>
            <a:r>
              <a:t>"We don't do pre-recorded videos. You get live sessions with a real mentor who can answer</a:t>
            </a:r>
          </a:p>
          <a:p>
            <a:r>
              <a:t>your questions in real-time."</a:t>
            </a:r>
          </a:p>
          <a:p/>
          <a:p>
            <a:r>
              <a:t>"Every week you build. No theory-only weeks. You are always making something."</a:t>
            </a:r>
          </a:p>
          <a:p/>
          <a:p>
            <a:r>
              <a:t>"Your portfolio is built alongside the course — by the end, you have 7+ projects</a:t>
            </a:r>
          </a:p>
          <a:p>
            <a:r>
              <a:t>you can show anyone."</a:t>
            </a:r>
          </a:p>
          <a:p/>
          <a:p>
            <a:r>
              <a:t>"We have small batch sizes intentionally. We'd rather have 15 focused students</a:t>
            </a:r>
          </a:p>
          <a:p>
            <a:r>
              <a:t>than 200 passive ones."</a:t>
            </a:r>
          </a:p>
          <a:p/>
          <a:p>
            <a:r>
              <a:t>"And we're invested in your outcome — not just your enrollment. Internship guidance,</a:t>
            </a:r>
          </a:p>
          <a:p>
            <a:r>
              <a:t>mock interviews, placement support — these aren't extras. They're part of the program."</a:t>
            </a:r>
          </a:p>
          <a:p/>
          <a:p>
            <a:r>
              <a:t>"This isn't a YouTube playlist with a certificate at the end.</a:t>
            </a:r>
          </a:p>
          <a:p>
            <a:r>
              <a:t>This is a structured, mentor-led, project-driven program designed to get you hired."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20 — Final CTA (5 min)</a:t>
            </a:r>
          </a:p>
          <a:p/>
          <a:p>
            <a:r>
              <a:t>"I want to leave you with one thought."</a:t>
            </a:r>
          </a:p>
          <a:p/>
          <a:p>
            <a:r>
              <a:t>[Read the headline slowly]</a:t>
            </a:r>
          </a:p>
          <a:p>
            <a:r>
              <a:t>"The best time to start AI was yesterday. The second best time is today."</a:t>
            </a:r>
          </a:p>
          <a:p/>
          <a:p>
            <a:r>
              <a:t>[Pause]</a:t>
            </a:r>
          </a:p>
          <a:p/>
          <a:p>
            <a:r>
              <a:t>"In this room right now, you have a choice.</a:t>
            </a:r>
          </a:p>
          <a:p>
            <a:r>
              <a:t>One year from now, you can be someone who uses AI tools made by others —</a:t>
            </a:r>
          </a:p>
          <a:p>
            <a:r>
              <a:t>OR you can be someone who BUILT those tools, who gets PAID to build them, who is in demand."</a:t>
            </a:r>
          </a:p>
          <a:p/>
          <a:p>
            <a:r>
              <a:t>"The difference between those two people starts with one decision."</a:t>
            </a:r>
          </a:p>
          <a:p/>
          <a:p>
            <a:r>
              <a:t>[Point to enrollment box]</a:t>
            </a:r>
          </a:p>
          <a:p>
            <a:r>
              <a:t>"Our next batch starts on [DATE]. We have limited seats — we keep it small intentionally.</a:t>
            </a:r>
          </a:p>
          <a:p>
            <a:r>
              <a:t>The fee is [AMOUNT]."</a:t>
            </a:r>
          </a:p>
          <a:p/>
          <a:p>
            <a:r>
              <a:t>"I'm going to be right here after this session.</a:t>
            </a:r>
          </a:p>
          <a:p>
            <a:r>
              <a:t>If you want to talk about the course, your goals, what track is right for you — come find me.</a:t>
            </a:r>
          </a:p>
          <a:p>
            <a:r>
              <a:t>No pressure. No script. Just a conversation."</a:t>
            </a:r>
          </a:p>
          <a:p/>
          <a:p>
            <a:r>
              <a:t>[Closing line]</a:t>
            </a:r>
          </a:p>
          <a:p>
            <a:r>
              <a:t>"Thank you. Let's build something."</a:t>
            </a:r>
          </a:p>
          <a:p/>
          <a:p>
            <a:r>
              <a:t>POST-SESSION:</a:t>
            </a:r>
          </a:p>
          <a:p>
            <a:r>
              <a:t>- Collect names and WhatsApp numbers</a:t>
            </a:r>
          </a:p>
          <a:p>
            <a:r>
              <a:t>- Note which demos excited each student most</a:t>
            </a:r>
          </a:p>
          <a:p>
            <a:r>
              <a:t>- Share WorldWithWeb contact and batch details</a:t>
            </a:r>
          </a:p>
          <a:p>
            <a:r>
              <a:t>- Follow up within 24 hours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3657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33355"/>
                </a:solidFill>
                <a:latin typeface="Calibri"/>
              </a:rPr>
              <a:t>ChatGPT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2743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33355"/>
                </a:solidFill>
                <a:latin typeface="Calibri"/>
              </a:rPr>
              <a:t>Tesla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9436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33355"/>
                </a:solidFill>
                <a:latin typeface="Calibri"/>
              </a:rPr>
              <a:t>Midjourney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56692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33355"/>
                </a:solidFill>
                <a:latin typeface="Calibri"/>
              </a:rPr>
              <a:t>OpenAI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32004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33355"/>
                </a:solidFill>
                <a:latin typeface="Calibri"/>
              </a:rPr>
              <a:t>Gemini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29260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33355"/>
                </a:solidFill>
                <a:latin typeface="Calibri"/>
              </a:rPr>
              <a:t>Claude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103601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0B4D8"/>
                </a:solidFill>
                <a:latin typeface="Calibri"/>
              </a:rPr>
              <a:t>The Next Billion-Dollar Companies
Will Be Built With AI.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8328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Will You Build Them  —  or Work For Them?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18304" y="6126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9F1C"/>
                </a:solidFill>
                <a:latin typeface="Calibri"/>
              </a:rPr>
              <a:t>WorldWithWeb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B4D8"/>
                </a:solidFill>
                <a:latin typeface="Calibri"/>
              </a:rPr>
              <a:t>Jobs Are Changing Faster Than Degrees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3474720" cy="50292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00B4D8"/>
                </a:solidFill>
                <a:latin typeface="Calibri"/>
              </a:rPr>
              <a:t>2010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920240"/>
            <a:ext cx="3474720" cy="749808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999999"/>
                </a:solidFill>
                <a:latin typeface="Calibri"/>
              </a:rPr>
              <a:t>Typist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788920"/>
            <a:ext cx="3474720" cy="749808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999999"/>
                </a:solidFill>
                <a:latin typeface="Calibri"/>
              </a:rPr>
              <a:t>Data Entry Clerk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3657600"/>
            <a:ext cx="3474720" cy="749808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999999"/>
                </a:solidFill>
                <a:latin typeface="Calibri"/>
              </a:rPr>
              <a:t>Telephone Operator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4526280"/>
            <a:ext cx="3474720" cy="749808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999999"/>
                </a:solidFill>
                <a:latin typeface="Calibri"/>
              </a:rPr>
              <a:t>Fax Operator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1280160"/>
            <a:ext cx="3474720" cy="50292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00B4D8"/>
                </a:solidFill>
                <a:latin typeface="Calibri"/>
              </a:rPr>
              <a:t>2020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920240"/>
            <a:ext cx="3474720" cy="749808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Social Media Manager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2788920"/>
            <a:ext cx="3474720" cy="749808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App Developer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3657600"/>
            <a:ext cx="3474720" cy="749808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SEO Specialist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4526280"/>
            <a:ext cx="3474720" cy="749808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Cloud Engineer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75320" y="1280160"/>
            <a:ext cx="3474720" cy="50292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1A1A2E"/>
                </a:solidFill>
                <a:latin typeface="Calibri"/>
              </a:rPr>
              <a:t>2030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75320" y="1920240"/>
            <a:ext cx="3474720" cy="7498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A1A2E"/>
                </a:solidFill>
                <a:latin typeface="Calibri"/>
              </a:rPr>
              <a:t>AI Engineer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75320" y="2788920"/>
            <a:ext cx="3474720" cy="7498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A1A2E"/>
                </a:solidFill>
                <a:latin typeface="Calibri"/>
              </a:rPr>
              <a:t>Prompt Engineer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75320" y="3657600"/>
            <a:ext cx="3474720" cy="7498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A1A2E"/>
                </a:solidFill>
                <a:latin typeface="Calibri"/>
              </a:rPr>
              <a:t>AI Agent Developer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75320" y="4526280"/>
            <a:ext cx="3474720" cy="7498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A1A2E"/>
                </a:solidFill>
                <a:latin typeface="Calibri"/>
              </a:rPr>
              <a:t>AI Automation
Consultant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75320" y="5394960"/>
            <a:ext cx="3474720" cy="7498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A1A2E"/>
                </a:solidFill>
                <a:latin typeface="Calibri"/>
              </a:rPr>
              <a:t>AI Product Manager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B4D8"/>
                </a:solidFill>
                <a:latin typeface="Calibri"/>
              </a:rPr>
              <a:t>AI Is Already in Your Pocket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737360"/>
            <a:ext cx="2377440" cy="9144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00B4D8"/>
                </a:solidFill>
                <a:latin typeface="Calibri"/>
              </a:rPr>
              <a:t>Netflix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0" y="1737360"/>
            <a:ext cx="2377440" cy="9144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BB86FC"/>
                </a:solidFill>
                <a:latin typeface="Calibri"/>
              </a:rPr>
              <a:t>Instagram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737360"/>
            <a:ext cx="2377440" cy="9144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456E"/>
                </a:solidFill>
                <a:latin typeface="Calibri"/>
              </a:rPr>
              <a:t>YouTube</a:t>
            </a:r>
          </a:p>
        </p:txBody>
      </p:sp>
      <p:sp>
        <p:nvSpPr>
          <p:cNvPr id="7" name="Rectangle 6"/>
          <p:cNvSpPr/>
          <p:nvPr/>
        </p:nvSpPr>
        <p:spPr>
          <a:xfrm>
            <a:off x="9052560" y="1737360"/>
            <a:ext cx="2377440" cy="9144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9F1C"/>
                </a:solidFill>
                <a:latin typeface="Calibri"/>
              </a:rPr>
              <a:t>Amazon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3749039"/>
            <a:ext cx="2377440" cy="9144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00E676"/>
                </a:solidFill>
                <a:latin typeface="Calibri"/>
              </a:rPr>
              <a:t>Uber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3749039"/>
            <a:ext cx="2377440" cy="9144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00B4D8"/>
                </a:solidFill>
                <a:latin typeface="Calibri"/>
              </a:rPr>
              <a:t>Google Maps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3749039"/>
            <a:ext cx="2377440" cy="9144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00E676"/>
                </a:solidFill>
                <a:latin typeface="Calibri"/>
              </a:rPr>
              <a:t>Spotify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21208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999999"/>
                </a:solidFill>
                <a:latin typeface="Calibri"/>
              </a:rPr>
              <a:t>How does Netflix know what you want to watch?   How does Amazon know what to recommend?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57607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B4D8"/>
                </a:solidFill>
                <a:latin typeface="Calibri"/>
              </a:rPr>
              <a:t>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B4D8"/>
                </a:solidFill>
                <a:latin typeface="Calibri"/>
              </a:rPr>
              <a:t>Every Company Is Now an AI Company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2560320" cy="146304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0B4D8"/>
                </a:solidFill>
                <a:latin typeface="Calibri"/>
              </a:rPr>
              <a:t>OpenAI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8803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$157B+</a:t>
            </a:r>
          </a:p>
        </p:txBody>
      </p:sp>
      <p:sp>
        <p:nvSpPr>
          <p:cNvPr id="6" name="Rectangle 5"/>
          <p:cNvSpPr/>
          <p:nvPr/>
        </p:nvSpPr>
        <p:spPr>
          <a:xfrm>
            <a:off x="3337560" y="1371600"/>
            <a:ext cx="2560320" cy="146304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BB86FC"/>
                </a:solidFill>
                <a:latin typeface="Calibri"/>
              </a:rPr>
              <a:t>Anthropic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37560" y="28803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$61B+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371600"/>
            <a:ext cx="2560320" cy="146304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0E676"/>
                </a:solidFill>
                <a:latin typeface="Calibri"/>
              </a:rPr>
              <a:t>Google
Gemini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28803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$2T+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06840" y="1371600"/>
            <a:ext cx="2560320" cy="146304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9F1C"/>
                </a:solidFill>
                <a:latin typeface="Calibri"/>
              </a:rPr>
              <a:t>Nvidia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6840" y="28803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$3T+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5760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99999"/>
                </a:solidFill>
                <a:latin typeface="Calibri"/>
              </a:rPr>
              <a:t>Every sector is hiring AI talent right now: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160520"/>
            <a:ext cx="1508760" cy="59436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Healthcare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48840" y="4160520"/>
            <a:ext cx="1508760" cy="59436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Banking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0" y="4160520"/>
            <a:ext cx="1508760" cy="59436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Retail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32120" y="4160520"/>
            <a:ext cx="1508760" cy="59436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Marketing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892040"/>
            <a:ext cx="1508760" cy="59436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Manufacturing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48840" y="4892040"/>
            <a:ext cx="1508760" cy="59436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Education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0" y="4892040"/>
            <a:ext cx="1508760" cy="59436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Legal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B4D8"/>
                </a:solidFill>
                <a:latin typeface="Calibri"/>
              </a:rPr>
              <a:t>DEMO #1 — AI Image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99999"/>
                </a:solidFill>
                <a:latin typeface="Calibri"/>
              </a:rPr>
              <a:t>Live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828800" cy="45720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A1A2E"/>
                </a:solidFill>
                <a:latin typeface="Calibri"/>
              </a:rPr>
              <a:t>PROMPT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74519"/>
            <a:ext cx="5303520" cy="109728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"Create a Nike advertisement with a futuristic athlete running on neon streets"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21488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B4D8"/>
                </a:solidFill>
                <a:latin typeface="Calibri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6766560" y="1371600"/>
            <a:ext cx="4937760" cy="32004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0B4D8"/>
                </a:solidFill>
                <a:latin typeface="Calibri"/>
              </a:rPr>
              <a:t>🎨  AI-Generated
Nike Ad
[Show live result here]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389120"/>
            <a:ext cx="3657600" cy="64008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FF456E"/>
                </a:solidFill>
                <a:latin typeface="Calibri"/>
              </a:rPr>
              <a:t>Designer: 2-3 hours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4389120"/>
            <a:ext cx="3657600" cy="64008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0E676"/>
                </a:solidFill>
                <a:latin typeface="Calibri"/>
              </a:rPr>
              <a:t>AI: 8 seconds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21208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999999"/>
                </a:solidFill>
                <a:latin typeface="Calibri"/>
              </a:rPr>
              <a:t>AI didn't replace the designer. It gave superpowers to the one who knows how to use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B4D8"/>
                </a:solidFill>
                <a:latin typeface="Calibri"/>
              </a:rPr>
              <a:t>DEMO #2 — AI Builds a Website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99999"/>
                </a:solidFill>
                <a:latin typeface="Calibri"/>
              </a:rPr>
              <a:t>Live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828800" cy="45720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A1A2E"/>
                </a:solidFill>
                <a:latin typeface="Calibri"/>
              </a:rPr>
              <a:t>PROMPT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74519"/>
            <a:ext cx="5303520" cy="128016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"Create a modern website for a premium coffee shop called BrewLab. Include a menu, about section, and contact form."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22860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B4D8"/>
                </a:solidFill>
                <a:latin typeface="Calibri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6766560" y="1371600"/>
            <a:ext cx="4937760" cy="32004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0B4D8"/>
                </a:solidFill>
                <a:latin typeface="Calibri"/>
              </a:rPr>
              <a:t>🌐  Full Website
HTML + CSS + JS
[Show live result here]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21208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999999"/>
                </a:solidFill>
                <a:latin typeface="Calibri"/>
              </a:rPr>
              <a:t>Web development is not dying — it's evolving. The builders who direct AI will be paid more than those who just write code.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B4D8"/>
                </a:solidFill>
                <a:latin typeface="Calibri"/>
              </a:rPr>
              <a:t>DEMO #3 — AI Voice Clone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99999"/>
                </a:solidFill>
                <a:latin typeface="Calibri"/>
              </a:rPr>
              <a:t>Live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011680"/>
            <a:ext cx="4114800" cy="64008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0B4D8"/>
                </a:solidFill>
                <a:latin typeface="Calibri"/>
              </a:rPr>
              <a:t>YOUR VOICE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2926080"/>
            <a:ext cx="256032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80160" y="2788920"/>
            <a:ext cx="256032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54480" y="2651760"/>
            <a:ext cx="256032" cy="8229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0" y="2834640"/>
            <a:ext cx="256032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103120" y="2560320"/>
            <a:ext cx="256032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377440" y="2880360"/>
            <a:ext cx="256032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51760" y="2697480"/>
            <a:ext cx="256032" cy="7315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26080" y="2903220"/>
            <a:ext cx="256032" cy="320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0" y="2743200"/>
            <a:ext cx="256032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74720" y="2811780"/>
            <a:ext cx="256032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749040" y="2606040"/>
            <a:ext cx="256032" cy="914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023360" y="2857500"/>
            <a:ext cx="256032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0" y="2011680"/>
            <a:ext cx="4114800" cy="64008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BB86FC"/>
                </a:solidFill>
                <a:latin typeface="Calibri"/>
              </a:rPr>
              <a:t>AI CLONED VOICE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49440" y="2926080"/>
            <a:ext cx="256032" cy="27432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23760" y="2788920"/>
            <a:ext cx="256032" cy="54864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80" y="2651760"/>
            <a:ext cx="256032" cy="82296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0" y="2834640"/>
            <a:ext cx="256032" cy="45720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6720" y="2560320"/>
            <a:ext cx="256032" cy="100584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21040" y="2880360"/>
            <a:ext cx="256032" cy="36576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595360" y="2697480"/>
            <a:ext cx="256032" cy="73152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69680" y="2903220"/>
            <a:ext cx="256032" cy="32004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44000" y="2743200"/>
            <a:ext cx="256032" cy="64008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418320" y="2811780"/>
            <a:ext cx="256032" cy="50292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692640" y="2606040"/>
            <a:ext cx="256032" cy="91440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966960" y="2857500"/>
            <a:ext cx="256032" cy="41148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77840" y="2743200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9F1C"/>
                </a:solidFill>
                <a:latin typeface="Calibri"/>
              </a:rPr>
              <a:t>vs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0292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999999"/>
                </a:solidFill>
                <a:latin typeface="Calibri"/>
              </a:rPr>
              <a:t>AI can replicate any voice with just 10 seconds of audio.
Understanding this is as important as being excited by 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B4D8"/>
                </a:solidFill>
                <a:latin typeface="Calibri"/>
              </a:rPr>
              <a:t>DEMO #4 — AI Agent in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99999"/>
                </a:solidFill>
                <a:latin typeface="Calibri"/>
              </a:rPr>
              <a:t>No human intervention required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377440" y="1325880"/>
            <a:ext cx="7315200" cy="59436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0B4D8"/>
                </a:solidFill>
                <a:latin typeface="Calibri"/>
              </a:rPr>
              <a:t>Student enquiry arrives on website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19202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99999"/>
                </a:solidFill>
                <a:latin typeface="Calibri"/>
              </a:rPr>
              <a:t>↓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0" y="2075688"/>
            <a:ext cx="7315200" cy="59436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BB86FC"/>
                </a:solidFill>
                <a:latin typeface="Calibri"/>
              </a:rPr>
              <a:t>AI replies instantly — answers questions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26700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99999"/>
                </a:solidFill>
                <a:latin typeface="Calibri"/>
              </a:rPr>
              <a:t>↓</a:t>
            </a:r>
          </a:p>
        </p:txBody>
      </p:sp>
      <p:sp>
        <p:nvSpPr>
          <p:cNvPr id="9" name="Rectangle 8"/>
          <p:cNvSpPr/>
          <p:nvPr/>
        </p:nvSpPr>
        <p:spPr>
          <a:xfrm>
            <a:off x="2377440" y="2825496"/>
            <a:ext cx="7315200" cy="59436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FF9F1C"/>
                </a:solidFill>
                <a:latin typeface="Calibri"/>
              </a:rPr>
              <a:t>AI qualifies the lead — course &amp; budget fit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34198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99999"/>
                </a:solidFill>
                <a:latin typeface="Calibri"/>
              </a:rPr>
              <a:t>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77440" y="3575304"/>
            <a:ext cx="7315200" cy="59436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00E676"/>
                </a:solidFill>
                <a:latin typeface="Calibri"/>
              </a:rPr>
              <a:t>AI sends personalised WhatsApp message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99999"/>
                </a:solidFill>
                <a:latin typeface="Calibri"/>
              </a:rPr>
              <a:t>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77440" y="4325112"/>
            <a:ext cx="7315200" cy="59436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00B4D8"/>
                </a:solidFill>
                <a:latin typeface="Calibri"/>
              </a:rPr>
              <a:t>AI updates CRM / Excel with student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491947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99999"/>
                </a:solidFill>
                <a:latin typeface="Calibri"/>
              </a:rPr>
              <a:t>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77440" y="5074920"/>
            <a:ext cx="7315200" cy="59436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FF9F1C"/>
                </a:solidFill>
                <a:latin typeface="Calibri"/>
              </a:rPr>
              <a:t>AI generates daily summary report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21792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9F1C"/>
                </a:solidFill>
                <a:latin typeface="Calibri"/>
              </a:rPr>
              <a:t>Companies are paying ₹30,000–₹2,00,000/month for this skill.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B4D8"/>
                </a:solidFill>
                <a:latin typeface="Calibri"/>
              </a:rPr>
              <a:t>Can Anyone Learn AI?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456E"/>
                </a:solidFill>
                <a:latin typeface="Calibri"/>
              </a:rPr>
              <a:t>MYTH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920240"/>
            <a:ext cx="4572000" cy="749808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>
                <a:solidFill>
                  <a:srgbClr val="FF456E"/>
                </a:solidFill>
                <a:latin typeface="Calibri"/>
              </a:rPr>
              <a:t>❌  Only engineers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834640"/>
            <a:ext cx="4572000" cy="749808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>
                <a:solidFill>
                  <a:srgbClr val="FF456E"/>
                </a:solidFill>
                <a:latin typeface="Calibri"/>
              </a:rPr>
              <a:t>❌  Only coders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749040"/>
            <a:ext cx="4572000" cy="749808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>
                <a:solidFill>
                  <a:srgbClr val="FF456E"/>
                </a:solidFill>
                <a:latin typeface="Calibri"/>
              </a:rPr>
              <a:t>❌  Only math toppers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663440"/>
            <a:ext cx="4572000" cy="749808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>
                <a:solidFill>
                  <a:srgbClr val="FF456E"/>
                </a:solidFill>
                <a:latin typeface="Calibri"/>
              </a:rPr>
              <a:t>❌  Only people with laptops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E676"/>
                </a:solidFill>
                <a:latin typeface="Calibri"/>
              </a:rPr>
              <a:t>REALITY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0" y="1920240"/>
            <a:ext cx="4572000" cy="749808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>
                <a:solidFill>
                  <a:srgbClr val="00E676"/>
                </a:solidFill>
                <a:latin typeface="Calibri"/>
              </a:rPr>
              <a:t>✅  Students (any stream)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5120" y="2834640"/>
            <a:ext cx="4572000" cy="749808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>
                <a:solidFill>
                  <a:srgbClr val="00E676"/>
                </a:solidFill>
                <a:latin typeface="Calibri"/>
              </a:rPr>
              <a:t>✅  Graduates &amp; freshers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0" y="3749040"/>
            <a:ext cx="4572000" cy="749808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>
                <a:solidFill>
                  <a:srgbClr val="00E676"/>
                </a:solidFill>
                <a:latin typeface="Calibri"/>
              </a:rPr>
              <a:t>✅  Working professionals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0" y="4663440"/>
            <a:ext cx="4572000" cy="749808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>
                <a:solidFill>
                  <a:srgbClr val="00E676"/>
                </a:solidFill>
                <a:latin typeface="Calibri"/>
              </a:rPr>
              <a:t>✅  Business owners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03504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999999"/>
                </a:solidFill>
                <a:latin typeface="Calibri"/>
              </a:rPr>
              <a:t>You need curiosity, consistency, and the right guidance. Not a CS degree.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B4D8"/>
                </a:solidFill>
                <a:latin typeface="Calibri"/>
              </a:rPr>
              <a:t>Your Journey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417320"/>
            <a:ext cx="502920" cy="53035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A1A2E"/>
                </a:solidFill>
                <a:latin typeface="Calibri"/>
              </a:rPr>
              <a:t>L1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" y="1417320"/>
            <a:ext cx="1920240" cy="530352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Python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90088" y="1417320"/>
            <a:ext cx="182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99999"/>
                </a:solidFill>
                <a:latin typeface="Calibri"/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417320"/>
            <a:ext cx="502920" cy="53035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A1A2E"/>
                </a:solidFill>
                <a:latin typeface="Calibri"/>
              </a:rPr>
              <a:t>L2</a:t>
            </a:r>
          </a:p>
        </p:txBody>
      </p:sp>
      <p:sp>
        <p:nvSpPr>
          <p:cNvPr id="8" name="Rectangle 7"/>
          <p:cNvSpPr/>
          <p:nvPr/>
        </p:nvSpPr>
        <p:spPr>
          <a:xfrm>
            <a:off x="3749040" y="1417320"/>
            <a:ext cx="1920240" cy="530352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87568" y="1417320"/>
            <a:ext cx="182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99999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97880" y="1417320"/>
            <a:ext cx="502920" cy="5303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A1A2E"/>
                </a:solidFill>
                <a:latin typeface="Calibri"/>
              </a:rPr>
              <a:t>L3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46520" y="1417320"/>
            <a:ext cx="1920240" cy="530352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5048" y="1417320"/>
            <a:ext cx="182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99999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95360" y="1417320"/>
            <a:ext cx="502920" cy="5303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A1A2E"/>
                </a:solidFill>
                <a:latin typeface="Calibri"/>
              </a:rPr>
              <a:t>L4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0" y="1417320"/>
            <a:ext cx="1920240" cy="530352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Artificial Intelligence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221992"/>
            <a:ext cx="502920" cy="530352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A1A2E"/>
                </a:solidFill>
                <a:latin typeface="Calibri"/>
              </a:rPr>
              <a:t>L5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51560" y="2221992"/>
            <a:ext cx="1920240" cy="530352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Generative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90088" y="2221992"/>
            <a:ext cx="182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99999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2221992"/>
            <a:ext cx="502920" cy="530352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A1A2E"/>
                </a:solidFill>
                <a:latin typeface="Calibri"/>
              </a:rPr>
              <a:t>L6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49040" y="2221992"/>
            <a:ext cx="1920240" cy="530352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AI Agents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87568" y="2221992"/>
            <a:ext cx="182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99999"/>
                </a:solidFill>
                <a:latin typeface="Calibr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97880" y="2221992"/>
            <a:ext cx="502920" cy="530352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A1A2E"/>
                </a:solidFill>
                <a:latin typeface="Calibri"/>
              </a:rPr>
              <a:t>L7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46520" y="2221992"/>
            <a:ext cx="1920240" cy="530352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Industry Projects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5048" y="2221992"/>
            <a:ext cx="182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99999"/>
                </a:solidFill>
                <a:latin typeface="Calibri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95360" y="2221992"/>
            <a:ext cx="502920" cy="530352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A1A2E"/>
                </a:solidFill>
                <a:latin typeface="Calibri"/>
              </a:rPr>
              <a:t>L8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0" y="2221992"/>
            <a:ext cx="1920240" cy="530352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Job Ready  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8463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999999"/>
                </a:solidFill>
                <a:latin typeface="Calibri"/>
              </a:rPr>
              <a:t>Think of it like a game. Every level unlocks the next. You don't skip levels — you master them.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440680"/>
            <a:ext cx="11274552" cy="64008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FF9F1C"/>
                </a:solidFill>
                <a:latin typeface="Calibri"/>
              </a:rPr>
              <a:t>Complete roadmap: 6–9 months  |  Part-time friendly  |  Project at every level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B4D8"/>
                </a:solidFill>
                <a:latin typeface="Calibri"/>
              </a:rPr>
              <a:t>Level 1: Python — The Language of AI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548640" cy="45720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A1A2E"/>
                </a:solidFill>
                <a:latin typeface="Calibri"/>
              </a:rPr>
              <a:t>L1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325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99999"/>
                </a:solidFill>
                <a:latin typeface="Calibri"/>
              </a:rPr>
              <a:t>The entry point. Every AI engineer in the world started here.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5394960" cy="50292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2E"/>
                </a:solidFill>
                <a:latin typeface="Calibri"/>
              </a:rPr>
              <a:t>Calculator &amp; Logic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514600"/>
            <a:ext cx="5394960" cy="54864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Variables, loops, functions — core thinking tools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0760" y="2011680"/>
            <a:ext cx="5394960" cy="50292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2E"/>
                </a:solidFill>
                <a:latin typeface="Calibri"/>
              </a:rPr>
              <a:t>Automation Scripts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2514600"/>
            <a:ext cx="5394960" cy="54864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Automate repetitive tasks — email, files, 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337560"/>
            <a:ext cx="5394960" cy="50292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2E"/>
                </a:solidFill>
                <a:latin typeface="Calibri"/>
              </a:rPr>
              <a:t>Data Processing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840480"/>
            <a:ext cx="5394960" cy="54864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Read, clean, and analyse real-world datasets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60" y="3337560"/>
            <a:ext cx="5394960" cy="50292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2E"/>
                </a:solidFill>
                <a:latin typeface="Calibri"/>
              </a:rPr>
              <a:t>Chatbot (Rule-based)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3840480"/>
            <a:ext cx="5394960" cy="54864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Your first conversational AI — no ML needed yet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9893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999999"/>
                </a:solidFill>
                <a:latin typeface="Calibri"/>
              </a:rPr>
              <a:t>No prior experience needed. If you can use a smartphone, you can learn Python.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B4D8"/>
                </a:solidFill>
                <a:latin typeface="Calibri"/>
              </a:rPr>
              <a:t>Level 2: Data Science — The Fuel of AI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548640" cy="45720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A1A2E"/>
                </a:solidFill>
                <a:latin typeface="Calibri"/>
              </a:rPr>
              <a:t>L2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325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99999"/>
                </a:solidFill>
                <a:latin typeface="Calibri"/>
              </a:rPr>
              <a:t>Data is what AI learns from. Without data skills, you can't build real AI.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4572000" cy="347472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00B4D8"/>
                </a:solidFill>
                <a:latin typeface="Calibri"/>
              </a:rPr>
              <a:t>📊  Interactive
Business Dashboard
[Screenshot placeholder]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0" y="1920240"/>
            <a:ext cx="640080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2E"/>
                </a:solidFill>
                <a:latin typeface="Calibri"/>
              </a:rPr>
              <a:t>Sales Analysis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0" y="2423160"/>
            <a:ext cx="6400800" cy="64008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Find trends, peaks, drops in real sales data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0" y="3154680"/>
            <a:ext cx="6400800" cy="50292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2E"/>
                </a:solidFill>
                <a:latin typeface="Calibri"/>
              </a:rPr>
              <a:t>Customer Segmentation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3657600"/>
            <a:ext cx="6400800" cy="64008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Group customers by behaviour using clustering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0" y="4389120"/>
            <a:ext cx="6400800" cy="50292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2E"/>
                </a:solidFill>
                <a:latin typeface="Calibri"/>
              </a:rPr>
              <a:t>Business Dashboard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0" y="4892040"/>
            <a:ext cx="6400800" cy="64008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Interactive charts with Plotly &amp; Streamlit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B4D8"/>
                </a:solidFill>
                <a:latin typeface="Calibri"/>
              </a:rPr>
              <a:t>Level 3: Machine Learning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54864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A1A2E"/>
                </a:solidFill>
                <a:latin typeface="Calibri"/>
              </a:rPr>
              <a:t>L3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325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99999"/>
                </a:solidFill>
                <a:latin typeface="Calibri"/>
              </a:rPr>
              <a:t>Teaching computers to learn patterns — without being explicitly programmed.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3474720" cy="5943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A1A2E"/>
                </a:solidFill>
                <a:latin typeface="Calibri"/>
              </a:rPr>
              <a:t>🏠  House Price Prediction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514600"/>
            <a:ext cx="3474720" cy="6858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Predict property values from 20+ features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200400"/>
            <a:ext cx="3474720" cy="4572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999999"/>
                </a:solidFill>
                <a:latin typeface="Calibri"/>
              </a:rPr>
              <a:t>Scikit-learn  ·  Pandas  ·  Matplotlib</a:t>
            </a:r>
          </a:p>
        </p:txBody>
      </p:sp>
      <p:sp>
        <p:nvSpPr>
          <p:cNvPr id="9" name="Rectangle 8"/>
          <p:cNvSpPr/>
          <p:nvPr/>
        </p:nvSpPr>
        <p:spPr>
          <a:xfrm>
            <a:off x="4178808" y="1920240"/>
            <a:ext cx="3474720" cy="59436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A1A2E"/>
                </a:solidFill>
                <a:latin typeface="Calibri"/>
              </a:rPr>
              <a:t>👥  Employee Attrition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78808" y="2514600"/>
            <a:ext cx="3474720" cy="6858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Predict who will quit — before they 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78808" y="3200400"/>
            <a:ext cx="3474720" cy="4572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999999"/>
                </a:solidFill>
                <a:latin typeface="Calibri"/>
              </a:rPr>
              <a:t>Scikit-learn  ·  Pandas  ·  Matplotlib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00416" y="1920240"/>
            <a:ext cx="3474720" cy="59436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A1A2E"/>
                </a:solidFill>
                <a:latin typeface="Calibri"/>
              </a:rPr>
              <a:t>🎬  Movie Recommendation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0416" y="2514600"/>
            <a:ext cx="3474720" cy="6858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Build the Netflix engine — from scratch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00416" y="3200400"/>
            <a:ext cx="3474720" cy="4572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999999"/>
                </a:solidFill>
                <a:latin typeface="Calibri"/>
              </a:rPr>
              <a:t>Scikit-learn  ·  Pandas  ·  Matplotlib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21208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999999"/>
                </a:solidFill>
                <a:latin typeface="Calibri"/>
              </a:rPr>
              <a:t>Netflix, Spotify, Amazon — their recommendation engines are ML at heart. You'll build one.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B4D8"/>
                </a:solidFill>
                <a:latin typeface="Calibri"/>
              </a:rPr>
              <a:t>Level 4: Artificial Intelligence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54864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A1A2E"/>
                </a:solidFill>
                <a:latin typeface="Calibri"/>
              </a:rPr>
              <a:t>L4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325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99999"/>
                </a:solidFill>
                <a:latin typeface="Calibri"/>
              </a:rPr>
              <a:t>Computer vision, natural language processing — AI that sees and understands.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2651760" cy="5943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A1A2E"/>
                </a:solidFill>
                <a:latin typeface="Calibri"/>
              </a:rPr>
              <a:t>👁️  Computer Vision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514600"/>
            <a:ext cx="2651760" cy="73152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Teach AI to identify objects in images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346704" y="1920240"/>
            <a:ext cx="2651760" cy="59436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A1A2E"/>
                </a:solidFill>
                <a:latin typeface="Calibri"/>
              </a:rPr>
              <a:t>💬  NLP</a:t>
            </a:r>
          </a:p>
        </p:txBody>
      </p:sp>
      <p:sp>
        <p:nvSpPr>
          <p:cNvPr id="9" name="Rectangle 8"/>
          <p:cNvSpPr/>
          <p:nvPr/>
        </p:nvSpPr>
        <p:spPr>
          <a:xfrm>
            <a:off x="3346704" y="2514600"/>
            <a:ext cx="2651760" cy="73152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Sentiment analysis, text classification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6208" y="1920240"/>
            <a:ext cx="2651760" cy="59436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A1A2E"/>
                </a:solidFill>
                <a:latin typeface="Calibri"/>
              </a:rPr>
              <a:t>🔍  Face Detection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514600"/>
            <a:ext cx="2651760" cy="73152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Real-time face recognition system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25712" y="1920240"/>
            <a:ext cx="2651760" cy="59436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A1A2E"/>
                </a:solidFill>
                <a:latin typeface="Calibri"/>
              </a:rPr>
              <a:t>📄  OCR System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25712" y="2514600"/>
            <a:ext cx="2651760" cy="73152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Extract text from any image or PDF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21208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999999"/>
                </a:solidFill>
                <a:latin typeface="Calibri"/>
              </a:rPr>
              <a:t>This is where you move from predicting numbers to understanding the real world — images, language, documents.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B4D8"/>
                </a:solidFill>
                <a:latin typeface="Calibri"/>
              </a:rPr>
              <a:t>Level 5: Generative AI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548640" cy="45720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L5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325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99999"/>
                </a:solidFill>
                <a:latin typeface="Calibri"/>
              </a:rPr>
              <a:t>Stop USING these models. Start BUILDING with them.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920240"/>
            <a:ext cx="2560320" cy="13716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00B4D8"/>
                </a:solidFill>
                <a:latin typeface="Calibri"/>
              </a:rPr>
              <a:t>ChatGPT
OpenAI</a:t>
            </a:r>
          </a:p>
        </p:txBody>
      </p:sp>
      <p:sp>
        <p:nvSpPr>
          <p:cNvPr id="7" name="Rectangle 6"/>
          <p:cNvSpPr/>
          <p:nvPr/>
        </p:nvSpPr>
        <p:spPr>
          <a:xfrm>
            <a:off x="3337560" y="1920240"/>
            <a:ext cx="2560320" cy="13716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BB86FC"/>
                </a:solidFill>
                <a:latin typeface="Calibri"/>
              </a:rPr>
              <a:t>Claude
Anthropic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920240"/>
            <a:ext cx="2560320" cy="13716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00E676"/>
                </a:solidFill>
                <a:latin typeface="Calibri"/>
              </a:rPr>
              <a:t>Gemini
Google</a:t>
            </a:r>
          </a:p>
        </p:txBody>
      </p:sp>
      <p:sp>
        <p:nvSpPr>
          <p:cNvPr id="9" name="Rectangle 8"/>
          <p:cNvSpPr/>
          <p:nvPr/>
        </p:nvSpPr>
        <p:spPr>
          <a:xfrm>
            <a:off x="9006840" y="1920240"/>
            <a:ext cx="2560320" cy="13716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9F1C"/>
                </a:solidFill>
                <a:latin typeface="Calibri"/>
              </a:rPr>
              <a:t>Midjourney
Image AI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566160"/>
            <a:ext cx="11274552" cy="50292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Prompt Engineering — get exactly what you want from AI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187952"/>
            <a:ext cx="11274552" cy="50292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API Integration — connect AI models to your own apps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809744"/>
            <a:ext cx="11274552" cy="50292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RAG Systems — give AI your own private knowledge base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431536"/>
            <a:ext cx="11274552" cy="50292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Fine-tuning — train models on your specific domain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B4D8"/>
                </a:solidFill>
                <a:latin typeface="Calibri"/>
              </a:rPr>
              <a:t>Level 6: AI Agents — The Future Is Autonomous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548640" cy="45720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L6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325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99999"/>
                </a:solidFill>
                <a:latin typeface="Calibri"/>
              </a:rPr>
              <a:t>AI that doesn't just answer — it acts. End-to-end automation.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2651760" y="1417320"/>
            <a:ext cx="6858000" cy="54864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00B4D8"/>
                </a:solidFill>
                <a:latin typeface="Calibri"/>
              </a:rPr>
              <a:t>Lead arrives from website 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196596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99999"/>
                </a:solidFill>
                <a:latin typeface="Calibri"/>
              </a:rPr>
              <a:t>↓</a:t>
            </a:r>
          </a:p>
        </p:txBody>
      </p:sp>
      <p:sp>
        <p:nvSpPr>
          <p:cNvPr id="8" name="Rectangle 7"/>
          <p:cNvSpPr/>
          <p:nvPr/>
        </p:nvSpPr>
        <p:spPr>
          <a:xfrm>
            <a:off x="2651760" y="2167128"/>
            <a:ext cx="6858000" cy="54864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BB86FC"/>
                </a:solidFill>
                <a:latin typeface="Calibri"/>
              </a:rPr>
              <a:t>AI agent qualifies the enquiry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271576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99999"/>
                </a:solidFill>
                <a:latin typeface="Calibri"/>
              </a:rPr>
              <a:t>↓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2916936"/>
            <a:ext cx="6858000" cy="54864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00E676"/>
                </a:solidFill>
                <a:latin typeface="Calibri"/>
              </a:rPr>
              <a:t>AI sends WhatsApp follow-up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346557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99999"/>
                </a:solidFill>
                <a:latin typeface="Calibri"/>
              </a:rPr>
              <a:t>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51760" y="3666744"/>
            <a:ext cx="6858000" cy="54864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FF9F1C"/>
                </a:solidFill>
                <a:latin typeface="Calibri"/>
              </a:rPr>
              <a:t>AI updates CRM / Google Sheets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421538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99999"/>
                </a:solidFill>
                <a:latin typeface="Calibri"/>
              </a:rPr>
              <a:t>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51760" y="4416552"/>
            <a:ext cx="6858000" cy="54864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00B4D8"/>
                </a:solidFill>
                <a:latin typeface="Calibri"/>
              </a:rPr>
              <a:t>AI generates performance report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496519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99999"/>
                </a:solidFill>
                <a:latin typeface="Calibri"/>
              </a:rPr>
              <a:t>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51760" y="5166360"/>
            <a:ext cx="6858000" cy="54864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E676"/>
                </a:solidFill>
                <a:latin typeface="Calibri"/>
              </a:rPr>
              <a:t>Zero human intervention needed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6217920"/>
            <a:ext cx="11274552" cy="41148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A1A2E"/>
                </a:solidFill>
                <a:latin typeface="Calibri"/>
              </a:rPr>
              <a:t>Most in-demand AI skill in the market right now.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B4D8"/>
                </a:solidFill>
                <a:latin typeface="Calibri"/>
              </a:rPr>
              <a:t>Where Can This Take You?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2651760" cy="54864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B4D8"/>
                </a:solidFill>
                <a:latin typeface="Calibri"/>
              </a:rPr>
              <a:t>AI Engineer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965960"/>
            <a:ext cx="2651760" cy="41148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₹8–25 LPA</a:t>
            </a:r>
          </a:p>
        </p:txBody>
      </p:sp>
      <p:sp>
        <p:nvSpPr>
          <p:cNvPr id="6" name="Rectangle 5"/>
          <p:cNvSpPr/>
          <p:nvPr/>
        </p:nvSpPr>
        <p:spPr>
          <a:xfrm>
            <a:off x="3364992" y="1417320"/>
            <a:ext cx="2651760" cy="54864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BB86FC"/>
                </a:solidFill>
                <a:latin typeface="Calibri"/>
              </a:rPr>
              <a:t>ML Engineer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364992" y="1965960"/>
            <a:ext cx="2651760" cy="41148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₹7–22 LPA</a:t>
            </a:r>
          </a:p>
        </p:txBody>
      </p:sp>
      <p:sp>
        <p:nvSpPr>
          <p:cNvPr id="8" name="Rectangle 7"/>
          <p:cNvSpPr/>
          <p:nvPr/>
        </p:nvSpPr>
        <p:spPr>
          <a:xfrm>
            <a:off x="6272784" y="1417320"/>
            <a:ext cx="2651760" cy="54864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E676"/>
                </a:solidFill>
                <a:latin typeface="Calibri"/>
              </a:rPr>
              <a:t>Data Scientist</a:t>
            </a:r>
          </a:p>
        </p:txBody>
      </p:sp>
      <p:sp>
        <p:nvSpPr>
          <p:cNvPr id="9" name="Rectangle 8"/>
          <p:cNvSpPr/>
          <p:nvPr/>
        </p:nvSpPr>
        <p:spPr>
          <a:xfrm>
            <a:off x="6272784" y="1965960"/>
            <a:ext cx="2651760" cy="41148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₹6–20 LPA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80576" y="1417320"/>
            <a:ext cx="2651760" cy="54864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9F1C"/>
                </a:solidFill>
                <a:latin typeface="Calibri"/>
              </a:rPr>
              <a:t>Data Analyst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80576" y="1965960"/>
            <a:ext cx="2651760" cy="41148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₹4–12 LPA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697480"/>
            <a:ext cx="2651760" cy="54864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B4D8"/>
                </a:solidFill>
                <a:latin typeface="Calibri"/>
              </a:rPr>
              <a:t>AI Consultant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246120"/>
            <a:ext cx="2651760" cy="41148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₹8–30 LPA+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64992" y="2697480"/>
            <a:ext cx="2651760" cy="54864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BB86FC"/>
                </a:solidFill>
                <a:latin typeface="Calibri"/>
              </a:rPr>
              <a:t>Prompt Engineer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64992" y="3246120"/>
            <a:ext cx="2651760" cy="41148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₹5–15 LPA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72784" y="2697480"/>
            <a:ext cx="2651760" cy="54864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E676"/>
                </a:solidFill>
                <a:latin typeface="Calibri"/>
              </a:rPr>
              <a:t>AI Automation Spec.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72784" y="3246120"/>
            <a:ext cx="2651760" cy="41148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₹6–18 LPA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80576" y="2697480"/>
            <a:ext cx="2651760" cy="54864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9F1C"/>
                </a:solidFill>
                <a:latin typeface="Calibri"/>
              </a:rPr>
              <a:t>AI Product Manager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80576" y="3246120"/>
            <a:ext cx="2651760" cy="41148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₹10–30 LPA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03504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999999"/>
                </a:solidFill>
                <a:latin typeface="Calibri"/>
              </a:rPr>
              <a:t>Salary ranges are indicative for India (2024–25). Entry-level to 3 years experience. Freelance/consulting can exceed these.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B4D8"/>
                </a:solidFill>
                <a:latin typeface="Calibri"/>
              </a:rPr>
              <a:t>What You'll Build at WorldWithWeb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2651760" cy="36576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00B4D8"/>
                </a:solidFill>
                <a:latin typeface="Calibri"/>
              </a:rPr>
              <a:t>Beginner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83080"/>
            <a:ext cx="2651760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A1A2E"/>
                </a:solidFill>
                <a:latin typeface="Calibri"/>
              </a:rPr>
              <a:t>Chatbot</a:t>
            </a:r>
          </a:p>
        </p:txBody>
      </p:sp>
      <p:sp>
        <p:nvSpPr>
          <p:cNvPr id="6" name="Rectangle 5"/>
          <p:cNvSpPr/>
          <p:nvPr/>
        </p:nvSpPr>
        <p:spPr>
          <a:xfrm>
            <a:off x="3355848" y="1417320"/>
            <a:ext cx="2651760" cy="36576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9F1C"/>
                </a:solidFill>
                <a:latin typeface="Calibri"/>
              </a:rPr>
              <a:t>Intermediate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3355848" y="1783080"/>
            <a:ext cx="2651760" cy="54864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A1A2E"/>
                </a:solidFill>
                <a:latin typeface="Calibri"/>
              </a:rPr>
              <a:t>Recommendation System</a:t>
            </a:r>
          </a:p>
        </p:txBody>
      </p:sp>
      <p:sp>
        <p:nvSpPr>
          <p:cNvPr id="8" name="Rectangle 7"/>
          <p:cNvSpPr/>
          <p:nvPr/>
        </p:nvSpPr>
        <p:spPr>
          <a:xfrm>
            <a:off x="6254496" y="1417320"/>
            <a:ext cx="2651760" cy="36576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BB86FC"/>
                </a:solidFill>
                <a:latin typeface="Calibri"/>
              </a:rPr>
              <a:t>Advanced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254496" y="1783080"/>
            <a:ext cx="2651760" cy="54864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A1A2E"/>
                </a:solidFill>
                <a:latin typeface="Calibri"/>
              </a:rPr>
              <a:t>Resume Screening AI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53144" y="1417320"/>
            <a:ext cx="2651760" cy="36576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BB86FC"/>
                </a:solidFill>
                <a:latin typeface="Calibri"/>
              </a:rPr>
              <a:t>Advanced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53144" y="1783080"/>
            <a:ext cx="2651760" cy="54864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A1A2E"/>
                </a:solidFill>
                <a:latin typeface="Calibri"/>
              </a:rPr>
              <a:t>AI Interview Assistant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606040"/>
            <a:ext cx="2651760" cy="36576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00E676"/>
                </a:solidFill>
                <a:latin typeface="Calibri"/>
              </a:rPr>
              <a:t>Advanced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971800"/>
            <a:ext cx="2651760" cy="54864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A1A2E"/>
                </a:solidFill>
                <a:latin typeface="Calibri"/>
              </a:rPr>
              <a:t>AI Sales Agent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55848" y="2606040"/>
            <a:ext cx="2651760" cy="36576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00E676"/>
                </a:solidFill>
                <a:latin typeface="Calibri"/>
              </a:rPr>
              <a:t>Advanced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55848" y="2971800"/>
            <a:ext cx="2651760" cy="54864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A1A2E"/>
                </a:solidFill>
                <a:latin typeface="Calibri"/>
              </a:rPr>
              <a:t>AI Content Generator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54496" y="2606040"/>
            <a:ext cx="2651760" cy="36576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9F1C"/>
                </a:solidFill>
                <a:latin typeface="Calibri"/>
              </a:rPr>
              <a:t>Advanced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54496" y="2971800"/>
            <a:ext cx="2651760" cy="54864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A1A2E"/>
                </a:solidFill>
                <a:latin typeface="Calibri"/>
              </a:rPr>
              <a:t>AI Business Automation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53144" y="2606040"/>
            <a:ext cx="2651760" cy="36576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00B4D8"/>
                </a:solidFill>
                <a:latin typeface="Calibri"/>
              </a:rPr>
              <a:t>Capstone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53144" y="2971800"/>
            <a:ext cx="2651760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A1A2E"/>
                </a:solidFill>
                <a:latin typeface="Calibri"/>
              </a:rPr>
              <a:t>Custom AI SaaS App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98932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999999"/>
                </a:solidFill>
                <a:latin typeface="Calibri"/>
              </a:rPr>
              <a:t>Every project goes into your portfolio. Employers and clients see WHAT you built, not just what you studied.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B4D8"/>
                </a:solidFill>
                <a:latin typeface="Calibri"/>
              </a:rPr>
              <a:t>Why WorldWithWeb?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502920" cy="54864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0E676"/>
                </a:solidFill>
                <a:latin typeface="Calibri"/>
              </a:rPr>
              <a:t>✅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" y="1417320"/>
            <a:ext cx="10698480" cy="54864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00B4D8"/>
                </a:solidFill>
                <a:latin typeface="Calibri"/>
              </a:rPr>
              <a:t>Live training with real mentors — not pre-recorded videos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84832"/>
            <a:ext cx="502920" cy="54864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0E676"/>
                </a:solidFill>
                <a:latin typeface="Calibri"/>
              </a:rPr>
              <a:t>✅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1560" y="2084832"/>
            <a:ext cx="10698480" cy="54864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00E676"/>
                </a:solidFill>
                <a:latin typeface="Calibri"/>
              </a:rPr>
              <a:t>Hands-on projects every week — build from Day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752344"/>
            <a:ext cx="502920" cy="54864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0E676"/>
                </a:solidFill>
                <a:latin typeface="Calibri"/>
              </a:rPr>
              <a:t>✅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1560" y="2752344"/>
            <a:ext cx="10698480" cy="54864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00B4D8"/>
                </a:solidFill>
                <a:latin typeface="Calibri"/>
              </a:rPr>
              <a:t>Portfolio-first approach — show employers what you built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419856"/>
            <a:ext cx="502920" cy="54864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0E676"/>
                </a:solidFill>
                <a:latin typeface="Calibri"/>
              </a:rPr>
              <a:t>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51560" y="3419856"/>
            <a:ext cx="10698480" cy="54864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FF9F1C"/>
                </a:solidFill>
                <a:latin typeface="Calibri"/>
              </a:rPr>
              <a:t>Internship guidance — real-world exposure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087368"/>
            <a:ext cx="502920" cy="54864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0E676"/>
                </a:solidFill>
                <a:latin typeface="Calibri"/>
              </a:rPr>
              <a:t>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51560" y="4087368"/>
            <a:ext cx="10698480" cy="54864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BB86FC"/>
                </a:solidFill>
                <a:latin typeface="Calibri"/>
              </a:rPr>
              <a:t>Interview preparation — mock interviews + resume review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754880"/>
            <a:ext cx="502920" cy="54864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0E676"/>
                </a:solidFill>
                <a:latin typeface="Calibri"/>
              </a:rPr>
              <a:t>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1560" y="4754880"/>
            <a:ext cx="10698480" cy="54864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00E676"/>
                </a:solidFill>
                <a:latin typeface="Calibri"/>
              </a:rPr>
              <a:t>Placement support — referrals, job boards, industry network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422392"/>
            <a:ext cx="502920" cy="54864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0E676"/>
                </a:solidFill>
                <a:latin typeface="Calibri"/>
              </a:rPr>
              <a:t>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51560" y="5422392"/>
            <a:ext cx="10698480" cy="54864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FF9F1C"/>
                </a:solidFill>
                <a:latin typeface="Calibri"/>
              </a:rPr>
              <a:t>Small batches — personal attention, not 200-person classrooms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"/>
            <a:ext cx="11274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0B4D8"/>
                </a:solidFill>
                <a:latin typeface="Calibri"/>
              </a:rPr>
              <a:t>The Best Time To Start AI Was Yesterday.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002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Calibri"/>
              </a:rPr>
              <a:t>The Second Best Time Is Today.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2468880"/>
            <a:ext cx="67025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60604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9F1C"/>
                </a:solidFill>
                <a:latin typeface="Calibri"/>
              </a:rPr>
              <a:t>One year from now — will you be using AI,  or building it?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3383280"/>
            <a:ext cx="9445752" cy="6858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Next Batch: [DATE]     |     Fee: [AMOUNT]     |     Seats: Limited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0624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E676"/>
                </a:solidFill>
                <a:latin typeface="Calibri"/>
              </a:rPr>
              <a:t>Enroll Now  →  Talk to us after this session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463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999999"/>
                </a:solidFill>
                <a:latin typeface="Calibri"/>
              </a:rPr>
              <a:t>📱  WhatsApp: [NUMBER]     🌐  worldwithweb.in     📧  [EMAIL]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7220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9F1C"/>
                </a:solidFill>
                <a:latin typeface="Calibri"/>
              </a:rPr>
              <a:t>WorldWithWeb — Learn Tech. Build Real Things.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