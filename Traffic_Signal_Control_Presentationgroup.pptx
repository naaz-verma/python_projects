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IcXwF0d8Ts9qnZnaM9XNRlbFI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2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d71594e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dd71594e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71594ea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dd71594ea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d71594ea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dd71594ea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d71594ea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dd71594ea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d71594ea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dd71594ea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d71594ea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dd71594ea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71600" y="54864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an Interpretable</a:t>
            </a:r>
            <a:b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Signal Control Policy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5029200" y="1874519"/>
            <a:ext cx="2103120" cy="27432"/>
          </a:xfrm>
          <a:prstGeom prst="rect">
            <a:avLst/>
          </a:prstGeom>
          <a:solidFill>
            <a:srgbClr val="BBCCD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James Ault  |  Josiah P. Hanna  |  Guni Sharon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310896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arXiv: 1912.11023v2  |  2020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371600" y="4114800"/>
            <a:ext cx="94183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Assignment Presentation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9728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  Motivation &amp; Objective of the Paper</a:t>
            </a:r>
            <a:endParaRPr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  Key Techniques &amp; Algorithmic Approaches</a:t>
            </a:r>
            <a:endParaRPr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  Experimental Setup</a:t>
            </a:r>
            <a:endParaRPr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  Main Results &amp; Interpretation</a:t>
            </a:r>
            <a:endParaRPr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  Limitations &amp; Future Scope</a:t>
            </a:r>
            <a:endParaRPr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   Conclusion &amp; Key Takeaways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 &amp; Problem Statement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Interpretability Gap in Traffic Signal Control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731520" y="1645920"/>
            <a:ext cx="56692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Traffic congestion costs billions annually in fuel, time, and emissions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Reinforcement Learning with DNNs can reduce vehicle delay by up to 73%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However, DNNs are black boxes — decisions cannot be explained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Government agencies require interpretable, auditable controllers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Current RL approaches are impractical for real-world deployment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766560" y="1097280"/>
            <a:ext cx="4846320" cy="210312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2B6C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Research Question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Can we design traffic signal controllers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that are BOTH high-performing AND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human-interpretable?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Performance (DNN)  vs.  Interpretability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766560" y="3474720"/>
            <a:ext cx="4846320" cy="2743200"/>
          </a:xfrm>
          <a:prstGeom prst="roundRect">
            <a:avLst>
              <a:gd name="adj" fmla="val 16667"/>
            </a:avLst>
          </a:prstGeom>
          <a:solidFill>
            <a:srgbClr val="FDF0E0"/>
          </a:solidFill>
          <a:ln w="12700" cap="flat" cmpd="sng">
            <a:solidFill>
              <a:srgbClr val="D4A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Why Interpretability is Non-Negotiable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Liability: Who is responsible if an accident occurs?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Regulation: Agencies must approve control logic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Trust: Engineers need to understand &amp; tune the system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Safety: Black-box failures can be catastrophic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Traffic signals are safety-critical infrastructure.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 Objective &amp; Contributions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Objective: Design interpretable, regulatable control policies for traffic signals that match deep neural network performance while remaining fully human-understandable and tunable.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548640" y="2377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Six Key Contributions: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731520" y="292608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 Formally define a "regulatable" control function for signal control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 Compare regulatable functions against DNN-based policies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 Study three optimization methods: CMA-ES, PPO, Deep Q-Learning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 Develop three novel DQN variants using regulatable functions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→ DRQ, DRSQ, DRHQ (core technical contribution)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 Evaluate on simulations of real intersections with observed traffic demand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  Compare against deployed actuated controllers (practical baseline)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d71594eaf_0_0"/>
          <p:cNvSpPr/>
          <p:nvPr/>
        </p:nvSpPr>
        <p:spPr>
          <a:xfrm>
            <a:off x="0" y="0"/>
            <a:ext cx="12191700" cy="82290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d71594eaf_0_0"/>
          <p:cNvSpPr txBox="1"/>
          <p:nvPr/>
        </p:nvSpPr>
        <p:spPr>
          <a:xfrm>
            <a:off x="548640" y="137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signal control as an MDP</a:t>
            </a:r>
            <a:endParaRPr/>
          </a:p>
        </p:txBody>
      </p:sp>
      <p:sp>
        <p:nvSpPr>
          <p:cNvPr id="127" name="Google Shape;127;g3dd71594eaf_0_0"/>
          <p:cNvSpPr/>
          <p:nvPr/>
        </p:nvSpPr>
        <p:spPr>
          <a:xfrm>
            <a:off x="0" y="822960"/>
            <a:ext cx="12191700" cy="36600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Concept: Regulatable Control Function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1188720"/>
            <a:ext cx="5303520" cy="201168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Formal Definition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precedence function g(s, Φ; θ) is regulatable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if for every state variable s[i]: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∂g/∂s[i]  ≥  0   for all states,   OR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∂g/∂s[i]  ≤  0   for all states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i.e., monotonic input-output relationships.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217920" y="1188720"/>
            <a:ext cx="5394960" cy="2011680"/>
          </a:xfrm>
          <a:prstGeom prst="roundRect">
            <a:avLst>
              <a:gd name="adj" fmla="val 16667"/>
            </a:avLst>
          </a:prstGeom>
          <a:solidFill>
            <a:srgbClr val="FDF0E0"/>
          </a:solidFill>
          <a:ln w="12700" cap="flat" cmpd="sng">
            <a:solidFill>
              <a:srgbClr val="D4A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Practical Intuition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"Green was given to Phase 4 BECAUSE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stopped Southbound vehicles increased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while Eastbound queue decreased."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Every decision has a human-readable reason.</a:t>
            </a:r>
            <a:b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Engineers can adjust individual weights.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State Variables (per traffic phase):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731520" y="40233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 Stopped vehicles count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 Approaching vehicles count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 Cumulative stopped time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 Average stopped time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 Average queue length (stopped vehicles / lane count)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  Average approaching vehicle speed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6217920" y="35661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Polynomial Precedence Function: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217920" y="4023360"/>
            <a:ext cx="5394960" cy="91440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2B6C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g(s, Φ; θ') = Σφ∈Φ Σi=1..6  (wi · s[i])^pi   ×   Σj=1..4  (w'j · fj)^p'j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•  Weights (w) and exponents (p) per state variable per phase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•  For 8-phase intersection: 256 total tunable parameters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•  Proven regulatable via Lemma 1 (monotonic partial derivatives)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Algorithmic Approach: Three Deep Regulatable Q-Learning Variants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48640" y="1097280"/>
            <a:ext cx="11064240" cy="64008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Core Idea:  Train a powerful DQN (black-box) first, then train the interpretable function G to imitate it.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DRQ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Deep Regulatable Q-Learning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Goal: G(s,a) = Q(s,a)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(Match exact Q-values)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Loss: Squared error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(y - G(s,a;θ))²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Problem: Polynomial cannot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replicate full DNN capacity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Result: Worst performer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389120" y="2011680"/>
            <a:ext cx="3474720" cy="3291840"/>
          </a:xfrm>
          <a:prstGeom prst="roundRect">
            <a:avLst>
              <a:gd name="adj" fmla="val 16667"/>
            </a:avLst>
          </a:prstGeom>
          <a:solidFill>
            <a:srgbClr val="FDF0E0"/>
          </a:solidFill>
          <a:ln w="12700" cap="flat" cmpd="sng">
            <a:solidFill>
              <a:srgbClr val="D4A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DRSQ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Deep Regulatable Softmax Q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Goal: G(s,·) ∝ Q(s,·)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(Match relative ranking)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Loss: Cross-entropy between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softmax(Q) and softmax(G)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Insight: Proportional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equivalence is sufficient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Result: Good performer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16667"/>
            </a:avLst>
          </a:prstGeom>
          <a:solidFill>
            <a:srgbClr val="E8F5EB"/>
          </a:solidFill>
          <a:ln w="12700" cap="flat" cmpd="sng">
            <a:solidFill>
              <a:srgbClr val="277A3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DRHQ  (Best)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Deep Regulatable Hardmax Q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Goal: argmax G = argmax Q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(Match only the winning action)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Loss: Cross-entropy between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one-hot(argmax Q) &amp; softmax(G)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Insight: Maximum flexibility,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only policy equivalence needed</a:t>
            </a: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Result: Best performer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2B6C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Progression:   Match exact values (hard)   →   Match rankings (easier)   →   Match winner only (easiest &amp; best)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d71594eaf_0_10"/>
          <p:cNvSpPr/>
          <p:nvPr/>
        </p:nvSpPr>
        <p:spPr>
          <a:xfrm>
            <a:off x="0" y="0"/>
            <a:ext cx="12191700" cy="82290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d71594eaf_0_10"/>
          <p:cNvSpPr txBox="1"/>
          <p:nvPr/>
        </p:nvSpPr>
        <p:spPr>
          <a:xfrm>
            <a:off x="548640" y="137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DRQ Deep Regulatable Q-Learning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d71594eaf_0_10"/>
          <p:cNvSpPr/>
          <p:nvPr/>
        </p:nvSpPr>
        <p:spPr>
          <a:xfrm>
            <a:off x="0" y="822960"/>
            <a:ext cx="12191700" cy="36600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71594eaf_0_21"/>
          <p:cNvSpPr/>
          <p:nvPr/>
        </p:nvSpPr>
        <p:spPr>
          <a:xfrm>
            <a:off x="0" y="0"/>
            <a:ext cx="12191700" cy="82290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d71594eaf_0_21"/>
          <p:cNvSpPr txBox="1"/>
          <p:nvPr/>
        </p:nvSpPr>
        <p:spPr>
          <a:xfrm>
            <a:off x="548640" y="137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DRSQ Deep Regulatable Softmax Q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d71594eaf_0_21"/>
          <p:cNvSpPr/>
          <p:nvPr/>
        </p:nvSpPr>
        <p:spPr>
          <a:xfrm>
            <a:off x="0" y="822960"/>
            <a:ext cx="12191700" cy="36600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71594eaf_0_32"/>
          <p:cNvSpPr/>
          <p:nvPr/>
        </p:nvSpPr>
        <p:spPr>
          <a:xfrm>
            <a:off x="0" y="0"/>
            <a:ext cx="12191700" cy="82290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d71594eaf_0_32"/>
          <p:cNvSpPr txBox="1"/>
          <p:nvPr/>
        </p:nvSpPr>
        <p:spPr>
          <a:xfrm>
            <a:off x="548640" y="137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DRHQ Deep Regulatable Hardmax Q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d71594eaf_0_32"/>
          <p:cNvSpPr/>
          <p:nvPr/>
        </p:nvSpPr>
        <p:spPr>
          <a:xfrm>
            <a:off x="0" y="822960"/>
            <a:ext cx="12191700" cy="36600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d71594eaf_0_43"/>
          <p:cNvSpPr/>
          <p:nvPr/>
        </p:nvSpPr>
        <p:spPr>
          <a:xfrm>
            <a:off x="0" y="0"/>
            <a:ext cx="12191700" cy="82290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d71594eaf_0_43"/>
          <p:cNvSpPr txBox="1"/>
          <p:nvPr/>
        </p:nvSpPr>
        <p:spPr>
          <a:xfrm>
            <a:off x="548640" y="137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Alternative Optimization Methods: CMA-ES &amp; PPO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(REFERENCE)</a:t>
            </a:r>
            <a:endParaRPr/>
          </a:p>
        </p:txBody>
      </p:sp>
      <p:sp>
        <p:nvSpPr>
          <p:cNvPr id="181" name="Google Shape;181;g3dd71594eaf_0_43"/>
          <p:cNvSpPr/>
          <p:nvPr/>
        </p:nvSpPr>
        <p:spPr>
          <a:xfrm>
            <a:off x="0" y="822960"/>
            <a:ext cx="12191700" cy="36600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d71594eaf_0_43"/>
          <p:cNvSpPr txBox="1"/>
          <p:nvPr/>
        </p:nvSpPr>
        <p:spPr>
          <a:xfrm>
            <a:off x="548640" y="1097280"/>
            <a:ext cx="53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CMA-ES (Covariance Matrix Adaptation Evolution Strategy)</a:t>
            </a:r>
            <a:endParaRPr/>
          </a:p>
        </p:txBody>
      </p:sp>
      <p:sp>
        <p:nvSpPr>
          <p:cNvPr id="183" name="Google Shape;183;g3dd71594eaf_0_43"/>
          <p:cNvSpPr txBox="1"/>
          <p:nvPr/>
        </p:nvSpPr>
        <p:spPr>
          <a:xfrm>
            <a:off x="731520" y="1554480"/>
            <a:ext cx="50292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Type: Evolutionary / black-box optimization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Few hyperparameters; handles continuous ranges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Achieves near-DQN performance (validates function design)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Needs 24 episodes per parameter update (very slow)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Erratic exploration — unsafe during tuning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~4,000 episodes to stabilize (11 years of simulated traffic)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Impractical for online / real-world deployment</a:t>
            </a:r>
            <a:endParaRPr/>
          </a:p>
        </p:txBody>
      </p:sp>
      <p:sp>
        <p:nvSpPr>
          <p:cNvPr id="184" name="Google Shape;184;g3dd71594eaf_0_43"/>
          <p:cNvSpPr txBox="1"/>
          <p:nvPr/>
        </p:nvSpPr>
        <p:spPr>
          <a:xfrm>
            <a:off x="6400800" y="1097280"/>
            <a:ext cx="53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PPO (Proximal Policy Optimization)</a:t>
            </a:r>
            <a:endParaRPr/>
          </a:p>
        </p:txBody>
      </p:sp>
      <p:sp>
        <p:nvSpPr>
          <p:cNvPr id="185" name="Google Shape;185;g3dd71594eaf_0_43"/>
          <p:cNvSpPr txBox="1"/>
          <p:nvPr/>
        </p:nvSpPr>
        <p:spPr>
          <a:xfrm>
            <a:off x="6583680" y="1554480"/>
            <a:ext cx="50292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Type: Policy gradient method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Smooth, monotonic learning curves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Bounded gradient steps ensure safe exploration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Gets stuck in local optima (over-regularized)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Suboptimal final convergence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Cannot beat actuated control under high demand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Insufficient for this domain despite safety benefits</a:t>
            </a:r>
            <a:endParaRPr/>
          </a:p>
        </p:txBody>
      </p:sp>
      <p:sp>
        <p:nvSpPr>
          <p:cNvPr id="186" name="Google Shape;186;g3dd71594eaf_0_43"/>
          <p:cNvSpPr/>
          <p:nvPr/>
        </p:nvSpPr>
        <p:spPr>
          <a:xfrm>
            <a:off x="548640" y="5577840"/>
            <a:ext cx="11064300" cy="64020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Conclusion: Neither CMA-ES nor PPO are suitable for practical deployment. The DQN-based variants (especially DRHQ) are the most effective approach.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548640" y="137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CMA-ES (Covariance Matrix Adaptation Evolution Strategy)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71594eaf_0_54"/>
          <p:cNvSpPr/>
          <p:nvPr/>
        </p:nvSpPr>
        <p:spPr>
          <a:xfrm>
            <a:off x="0" y="0"/>
            <a:ext cx="12191700" cy="82290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d71594eaf_0_54"/>
          <p:cNvSpPr txBox="1"/>
          <p:nvPr/>
        </p:nvSpPr>
        <p:spPr>
          <a:xfrm>
            <a:off x="365760" y="1752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PPO (Proximal Policy Optimization)</a:t>
            </a:r>
            <a:endParaRPr dirty="0"/>
          </a:p>
        </p:txBody>
      </p:sp>
      <p:sp>
        <p:nvSpPr>
          <p:cNvPr id="200" name="Google Shape;200;g3dd71594eaf_0_54"/>
          <p:cNvSpPr/>
          <p:nvPr/>
        </p:nvSpPr>
        <p:spPr>
          <a:xfrm>
            <a:off x="0" y="822960"/>
            <a:ext cx="12191700" cy="36600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0" y="859536"/>
            <a:ext cx="12188952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ounded Rectangle 201"/>
          <p:cNvSpPr/>
          <p:nvPr/>
        </p:nvSpPr>
        <p:spPr>
          <a:xfrm>
            <a:off x="548640" y="1097280"/>
            <a:ext cx="11064240" cy="64008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dirty="0">
                <a:solidFill>
                  <a:srgbClr val="1B3A5C"/>
                </a:solidFill>
              </a:rPr>
              <a:t>PPO (Proximal Policy Optimization) is a policy gradient RL algorithm (Schulman et al., 2017) that directly optimizes the policy parameters using bounded gradient steps.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48640" y="2043211"/>
            <a:ext cx="5303520" cy="329184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B3A5C"/>
                </a:solidFill>
              </a:rPr>
              <a:t>How PPO Works</a:t>
            </a:r>
          </a:p>
          <a:p>
            <a:endParaRPr sz="1800" b="1">
              <a:solidFill>
                <a:srgbClr val="1B3A5C"/>
              </a:solidFill>
            </a:endParaRPr>
          </a:p>
          <a:p>
            <a:r>
              <a:rPr sz="1300" b="1">
                <a:solidFill>
                  <a:srgbClr val="1B3A5C"/>
                </a:solidFill>
              </a:rPr>
              <a:t>Objective Function:</a:t>
            </a:r>
          </a:p>
          <a:p>
            <a:r>
              <a:rPr sz="1300" b="0">
                <a:solidFill>
                  <a:srgbClr val="333333"/>
                </a:solidFill>
              </a:rPr>
              <a:t>Maximize clipped surrogate objective that</a:t>
            </a:r>
          </a:p>
          <a:p>
            <a:r>
              <a:rPr sz="1300" b="0">
                <a:solidFill>
                  <a:srgbClr val="333333"/>
                </a:solidFill>
              </a:rPr>
              <a:t>limits policy ratio r(t) = π_new / π_old</a:t>
            </a:r>
          </a:p>
          <a:p>
            <a:endParaRPr sz="1300" b="0">
              <a:solidFill>
                <a:srgbClr val="333333"/>
              </a:solidFill>
            </a:endParaRPr>
          </a:p>
          <a:p>
            <a:r>
              <a:rPr sz="1300" b="1">
                <a:solidFill>
                  <a:srgbClr val="1B3A5C"/>
                </a:solidFill>
              </a:rPr>
              <a:t>Core Mechanism:</a:t>
            </a:r>
          </a:p>
          <a:p>
            <a:r>
              <a:rPr sz="1300" b="0">
                <a:solidFill>
                  <a:srgbClr val="333333"/>
                </a:solidFill>
              </a:rPr>
              <a:t>•  Clips expected advantage when policy</a:t>
            </a:r>
          </a:p>
          <a:p>
            <a:r>
              <a:rPr sz="1300" b="0">
                <a:solidFill>
                  <a:srgbClr val="333333"/>
                </a:solidFill>
              </a:rPr>
              <a:t>   diverges too far from previous policy</a:t>
            </a:r>
          </a:p>
          <a:p>
            <a:r>
              <a:rPr sz="1300" b="0">
                <a:solidFill>
                  <a:srgbClr val="333333"/>
                </a:solidFill>
              </a:rPr>
              <a:t>•  Bounded gradient steps ensure safe</a:t>
            </a:r>
          </a:p>
          <a:p>
            <a:r>
              <a:rPr sz="1300" b="0">
                <a:solidFill>
                  <a:srgbClr val="333333"/>
                </a:solidFill>
              </a:rPr>
              <a:t>   exploration during online training</a:t>
            </a:r>
          </a:p>
          <a:p>
            <a:r>
              <a:rPr sz="1300" b="0">
                <a:solidFill>
                  <a:srgbClr val="333333"/>
                </a:solidFill>
              </a:rPr>
              <a:t>•  No replay buffer or separate Q-function</a:t>
            </a:r>
          </a:p>
          <a:p>
            <a:r>
              <a:rPr sz="1300" b="0">
                <a:solidFill>
                  <a:srgbClr val="333333"/>
                </a:solidFill>
              </a:rPr>
              <a:t>   needed (unlike DQN variants)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217920" y="2011680"/>
            <a:ext cx="5394960" cy="32918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1B3A5C"/>
                </a:solidFill>
              </a:rPr>
              <a:t>Application in This Paper</a:t>
            </a:r>
          </a:p>
          <a:p>
            <a:endParaRPr sz="1800" b="1" dirty="0">
              <a:solidFill>
                <a:srgbClr val="1B3A5C"/>
              </a:solidFill>
            </a:endParaRPr>
          </a:p>
          <a:p>
            <a:r>
              <a:rPr sz="1300" b="1" dirty="0">
                <a:solidFill>
                  <a:srgbClr val="1B3A5C"/>
                </a:solidFill>
              </a:rPr>
              <a:t>Role</a:t>
            </a:r>
            <a:r>
              <a:rPr lang="en-IN" sz="1300" b="1" dirty="0">
                <a:solidFill>
                  <a:srgbClr val="1B3A5C"/>
                </a:solidFill>
              </a:rPr>
              <a:t>:</a:t>
            </a:r>
            <a:endParaRPr sz="1300" b="1" dirty="0">
              <a:solidFill>
                <a:srgbClr val="1B3A5C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•  Used as an alternative online tuning</a:t>
            </a:r>
          </a:p>
          <a:p>
            <a:r>
              <a:rPr sz="1300" b="0" dirty="0">
                <a:solidFill>
                  <a:srgbClr val="333333"/>
                </a:solidFill>
              </a:rPr>
              <a:t>   method alongside CMA-ES and DQN</a:t>
            </a:r>
          </a:p>
          <a:p>
            <a:r>
              <a:rPr sz="1300" b="0" dirty="0">
                <a:solidFill>
                  <a:srgbClr val="333333"/>
                </a:solidFill>
              </a:rPr>
              <a:t>•  Directly tunes the regulatable polynomial</a:t>
            </a:r>
          </a:p>
          <a:p>
            <a:r>
              <a:rPr sz="1300" b="0" dirty="0">
                <a:solidFill>
                  <a:srgbClr val="333333"/>
                </a:solidFill>
              </a:rPr>
              <a:t>   precedence function parameters</a:t>
            </a: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1" dirty="0">
                <a:solidFill>
                  <a:srgbClr val="1B3A5C"/>
                </a:solidFill>
              </a:rPr>
              <a:t>Why PPO Was Chosen:</a:t>
            </a:r>
          </a:p>
          <a:p>
            <a:r>
              <a:rPr sz="1300" b="0" dirty="0">
                <a:solidFill>
                  <a:srgbClr val="333333"/>
                </a:solidFill>
              </a:rPr>
              <a:t>•  Suitable for safety-critical domains</a:t>
            </a:r>
          </a:p>
          <a:p>
            <a:r>
              <a:rPr sz="1300" b="0" dirty="0">
                <a:solidFill>
                  <a:srgbClr val="333333"/>
                </a:solidFill>
              </a:rPr>
              <a:t>•  Smooth, monotonic learning curves</a:t>
            </a:r>
          </a:p>
          <a:p>
            <a:r>
              <a:rPr sz="1300" b="0" dirty="0">
                <a:solidFill>
                  <a:srgbClr val="333333"/>
                </a:solidFill>
              </a:rPr>
              <a:t>•  Bounded policy updates prevent</a:t>
            </a:r>
          </a:p>
          <a:p>
            <a:r>
              <a:rPr sz="1300" b="0" dirty="0">
                <a:solidFill>
                  <a:srgbClr val="333333"/>
                </a:solidFill>
              </a:rPr>
              <a:t>   catastrophic performance drops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48640" y="5577840"/>
            <a:ext cx="11064240" cy="640080"/>
          </a:xfrm>
          <a:prstGeom prst="round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Key Property:  PPO limits how much the policy can change per update, providing safe exploration — but at the cost of potential convergence to local optima.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31531"/>
            <a:ext cx="12188952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PPO: Experimental Results &amp;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118300"/>
            <a:ext cx="11064240" cy="5486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B3A5C"/>
                </a:solidFill>
              </a:rPr>
              <a:t> Policy Gradient Approach — Average Vehicle Delay (seconds, lower is better)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474720" cy="1645920"/>
          </a:xfrm>
          <a:prstGeom prst="roundRect">
            <a:avLst/>
          </a:prstGeom>
          <a:solidFill>
            <a:srgbClr val="E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B3A5C"/>
                </a:solidFill>
              </a:rPr>
              <a:t>Low Demand</a:t>
            </a:r>
          </a:p>
          <a:p>
            <a:r>
              <a:rPr sz="1100" b="0">
                <a:solidFill>
                  <a:srgbClr val="666666"/>
                </a:solidFill>
              </a:rPr>
              <a:t>45,112 vehicles/day</a:t>
            </a:r>
          </a:p>
          <a:p>
            <a:endParaRPr sz="1100" b="0">
              <a:solidFill>
                <a:srgbClr val="666666"/>
              </a:solidFill>
            </a:endParaRPr>
          </a:p>
          <a:p>
            <a:r>
              <a:rPr sz="1400" b="1">
                <a:solidFill>
                  <a:srgbClr val="333333"/>
                </a:solidFill>
              </a:rPr>
              <a:t>PPO:       ~55 sec</a:t>
            </a:r>
          </a:p>
          <a:p>
            <a:r>
              <a:rPr sz="1300" b="0">
                <a:solidFill>
                  <a:srgbClr val="666666"/>
                </a:solidFill>
              </a:rPr>
              <a:t>Actuated:  ~60 sec</a:t>
            </a:r>
          </a:p>
          <a:p>
            <a:r>
              <a:rPr sz="1300" b="0">
                <a:solidFill>
                  <a:srgbClr val="666666"/>
                </a:solidFill>
              </a:rPr>
              <a:t>DQN:       ~48 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74720" cy="164592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B3A5C"/>
                </a:solidFill>
              </a:rPr>
              <a:t>Medium Demand</a:t>
            </a:r>
          </a:p>
          <a:p>
            <a:r>
              <a:rPr sz="1100" b="0" dirty="0">
                <a:solidFill>
                  <a:srgbClr val="666666"/>
                </a:solidFill>
              </a:rPr>
              <a:t>51,298 vehicles/day</a:t>
            </a:r>
          </a:p>
          <a:p>
            <a:endParaRPr sz="1100" b="0" dirty="0">
              <a:solidFill>
                <a:srgbClr val="666666"/>
              </a:solidFill>
            </a:endParaRPr>
          </a:p>
          <a:p>
            <a:r>
              <a:rPr sz="1400" b="1" dirty="0">
                <a:solidFill>
                  <a:srgbClr val="333333"/>
                </a:solidFill>
              </a:rPr>
              <a:t>PPO:       ~65 sec</a:t>
            </a:r>
          </a:p>
          <a:p>
            <a:r>
              <a:rPr sz="1300" b="0" dirty="0">
                <a:solidFill>
                  <a:srgbClr val="666666"/>
                </a:solidFill>
              </a:rPr>
              <a:t>Actuated:  ~70 sec</a:t>
            </a:r>
          </a:p>
          <a:p>
            <a:r>
              <a:rPr sz="1300" b="0" dirty="0">
                <a:solidFill>
                  <a:srgbClr val="666666"/>
                </a:solidFill>
              </a:rPr>
              <a:t>DQN:       ~57 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920240"/>
            <a:ext cx="3474720" cy="1645920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B3A5C"/>
                </a:solidFill>
              </a:rPr>
              <a:t>High Demand</a:t>
            </a:r>
          </a:p>
          <a:p>
            <a:r>
              <a:rPr sz="1100" b="0" dirty="0">
                <a:solidFill>
                  <a:srgbClr val="666666"/>
                </a:solidFill>
              </a:rPr>
              <a:t>61,261 vehicles/day</a:t>
            </a:r>
          </a:p>
          <a:p>
            <a:endParaRPr sz="1100" b="0" dirty="0">
              <a:solidFill>
                <a:srgbClr val="666666"/>
              </a:solidFill>
            </a:endParaRPr>
          </a:p>
          <a:p>
            <a:r>
              <a:rPr sz="1400" b="1" dirty="0">
                <a:solidFill>
                  <a:srgbClr val="CC3333"/>
                </a:solidFill>
              </a:rPr>
              <a:t>PPO:       ~95 sec  ✖</a:t>
            </a:r>
          </a:p>
          <a:p>
            <a:r>
              <a:rPr sz="1300" b="0" dirty="0">
                <a:solidFill>
                  <a:srgbClr val="666666"/>
                </a:solidFill>
              </a:rPr>
              <a:t>Actuated:  ~95 sec</a:t>
            </a:r>
          </a:p>
          <a:p>
            <a:r>
              <a:rPr sz="1300" b="0" dirty="0">
                <a:solidFill>
                  <a:srgbClr val="666666"/>
                </a:solidFill>
              </a:rPr>
              <a:t>DQN:       ~82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B3A5C"/>
                </a:solidFill>
              </a:rPr>
              <a:t>Key Findings from Paper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303520" cy="109728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333333"/>
                </a:solidFill>
              </a:rPr>
              <a:t>•  Requires ~15 episodes to reach actuated control performance in low &amp; medium demand</a:t>
            </a:r>
          </a:p>
          <a:p>
            <a:r>
              <a:rPr sz="1300" b="0" dirty="0">
                <a:solidFill>
                  <a:srgbClr val="333333"/>
                </a:solidFill>
              </a:rPr>
              <a:t>•  Fails to reach actuated-level performance under high demand 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5394960" cy="109728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•  Bounded exploration causes convergence to suboptimal local optima</a:t>
            </a:r>
          </a:p>
          <a:p>
            <a:r>
              <a:rPr sz="1300" b="0">
                <a:solidFill>
                  <a:srgbClr val="333333"/>
                </a:solidFill>
              </a:rPr>
              <a:t>•  Both DRSQ and DRHQ outperform PPO across all three demand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11064240" cy="640080"/>
          </a:xfrm>
          <a:prstGeom prst="round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</a:rPr>
              <a:t>Paper Conclusion: "A policy gradient approach is not suitable for training a regulatable function in this domain due to slow and sub-optimal convergence."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Simulation Environment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Simulator: SUMO (Simulation of Urban Mobility)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Real traffic data from Utah DOT (2,092 intersections)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Test site: State St &amp; E 4500 S, Murray, Utah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10 traffic phases, 11 non-conflicting phase pairs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&gt;50,000 vehicles/day, peak rate: 95 cars/min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352 tunable parameters for regulatable policy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Traffic Demand Profiles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6400800" y="1554480"/>
            <a:ext cx="5212080" cy="502920"/>
          </a:xfrm>
          <a:prstGeom prst="roundRect">
            <a:avLst>
              <a:gd name="adj" fmla="val 16667"/>
            </a:avLst>
          </a:prstGeom>
          <a:solidFill>
            <a:srgbClr val="E8F5EB"/>
          </a:solidFill>
          <a:ln w="12700" cap="flat" cmpd="sng">
            <a:solidFill>
              <a:srgbClr val="277A3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Low:      45,112 vehicles  |  1.04 v/sec  |  Mon May 6, 2019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400800" y="2148840"/>
            <a:ext cx="5212080" cy="502920"/>
          </a:xfrm>
          <a:prstGeom prst="roundRect">
            <a:avLst>
              <a:gd name="adj" fmla="val 16667"/>
            </a:avLst>
          </a:prstGeom>
          <a:solidFill>
            <a:srgbClr val="FDF0E0"/>
          </a:solidFill>
          <a:ln w="12700" cap="flat" cmpd="sng">
            <a:solidFill>
              <a:srgbClr val="D4A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Medium:  51,298 vehicles  |  1.19 v/sec  |  Wed May 1, 2019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6400800" y="2743200"/>
            <a:ext cx="5212080" cy="502920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High:     61,261 vehicles  |  1.42 v/sec  |  Fri Jun 21, 2019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DQN Hyperparameters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6583680" y="40233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3 hidden layers, 64 units each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Replay buffer: 100,000 transitions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Minibatch size: 32  |  Optimizer: Adam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Epsilon-greedy: 0.05 → 0 after 20 episodes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Discount factor: 0.8 (low/med), 0.9 (high)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548640" y="42062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Baseline: Actuated Signal Controller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731520" y="466344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SUMO’s actuated controller (used in real deployments)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Phases in fixed order (protected lefts → through traffic)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Maximum green time: 300 seconds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This is what real intersections use today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Results: Average Vehicle Delay Comparison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Vehicle Delay (seconds)  —  Lower is Better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731520" y="17830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B3A5C"/>
                </a:solidFill>
                <a:latin typeface="Consolas"/>
                <a:ea typeface="Consolas"/>
                <a:cs typeface="Consolas"/>
                <a:sym typeface="Consolas"/>
              </a:rPr>
              <a:t>Method                         Low Demand        Medium Demand       High Demand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731520" y="2103120"/>
            <a:ext cx="10515600" cy="18288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731520" y="22402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Actuated (Baseline)            ~60 sec            ~70 sec              ~95 sec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31520" y="258775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731520" y="26060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CMA-ES                         ~50 sec            ~58 sec              ~85 sec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731520" y="295351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731520" y="29718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PPO                            ~55 sec            ~65 sec              ~95 sec  (fails in high)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31520" y="331927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731520" y="3337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DRQ                            Poor               Poor                 Poor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731520" y="368503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DRSQ                           ~52 sec            ~62 sec              ~87 sec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31520" y="405079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77A3E"/>
                </a:solidFill>
                <a:latin typeface="Consolas"/>
                <a:ea typeface="Consolas"/>
                <a:cs typeface="Consolas"/>
                <a:sym typeface="Consolas"/>
              </a:rPr>
              <a:t>DRHQ  (Best Interpretable)     ~50 sec            ~60 sec              ~85 sec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31520" y="441655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731520" y="44348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B6CB3"/>
                </a:solidFill>
                <a:latin typeface="Consolas"/>
                <a:ea typeface="Consolas"/>
                <a:cs typeface="Consolas"/>
                <a:sym typeface="Consolas"/>
              </a:rPr>
              <a:t>DQN   (Black-box Upper Bound)  ~48 sec            ~57 sec              ~82 sec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6667"/>
            </a:avLst>
          </a:prstGeom>
          <a:solidFill>
            <a:srgbClr val="E8F5EB"/>
          </a:solidFill>
          <a:ln w="12700" cap="flat" cmpd="sng">
            <a:solidFill>
              <a:srgbClr val="277A3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Finding:  DRHQ achieves up to 19.4% reduced vehicle delay compared to deployed actuated controllers,</a:t>
            </a:r>
            <a:br>
              <a:rPr lang="en-US" sz="1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while remaining fully interpretable.  The gap vs. the black-box DQN is only 1–3 seconds.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Interpretation of Results</a:t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Why DRHQ Works Best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Only needs to match which action wins, not exact Q-values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Gives maximum flexibility to the polynomial function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Hardmax formulation directly targets policy equivalence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Converges within a single episode for low/medium demand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"Less is more": easier target = better practical fit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Why Other Methods Fall Short</a:t>
            </a:r>
            <a:endParaRPr/>
          </a:p>
        </p:txBody>
      </p:sp>
      <p:sp>
        <p:nvSpPr>
          <p:cNvPr id="252" name="Google Shape;252;p10"/>
          <p:cNvSpPr txBox="1"/>
          <p:nvPr/>
        </p:nvSpPr>
        <p:spPr>
          <a:xfrm>
            <a:off x="6583680" y="155448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DRQ: Cannot approximate the full Q-function surface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DRSQ: Softmax ranking harder to match than just the winner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PPO: Over-regularized, converges to local optima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CMA-ES: Requires thousands of episodes, unsafe exploration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Pure polynomial/Fourier: Cannot complete basic scenarios</a:t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Critical Insight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performance gap between DRHQ (~50–85 sec) and the full black-box DQN (~48–82 sec) is only 1–3 seconds.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marginal cost buys complete interpretability — every decision can be explained, audited,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and manually adjusted by traffic engineers.  For safety-critical infrastructure, this is an excellent trade-off.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Future Scope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Limitations of This Work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Single intersection only — transferability is unknown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All results are from simulation (SUMO), no real-world test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CMA-ES is impractical despite showing ceiling performance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PPO fails under high demand scenarios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No warm-starting from existing controllers explored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352 parameters still requires significant compute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Limited to one geographic region (Utah traffic data only)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277A3E"/>
                </a:solidFill>
                <a:latin typeface="Calibri"/>
                <a:ea typeface="Calibri"/>
                <a:cs typeface="Calibri"/>
                <a:sym typeface="Calibri"/>
              </a:rPr>
              <a:t>Future Research Directions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6583680" y="155448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Warm-starting from currently deployed controller behavior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Multi-intersection coordination &amp; network optimization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Real-world deployment and field testing validation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Transferability studies across intersection types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Incorporating pedestrian and cyclist signal phases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Adaptive parameter count based on intersection complexity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Integration with connected &amp; autonomous vehicle data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Key Takeaways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914400" y="1188720"/>
            <a:ext cx="1033272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  Interpretable polynomial policies CAN match DNN performance (gap ≤ 1–3 sec)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  DRHQ (Hardmax variant) achieves 19.4% delay reduction vs. actuated controllers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  "Regulatable" = monotonic input-output relationship = human-understandable decisions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  Policy gradient methods (PPO) are unsuitable for traffic signal optimization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  The paper bridges the gap between AI performance and real-world deployability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   Interpretability is not a luxury — it is a requirement for safety-critical systems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1828800" y="5303520"/>
            <a:ext cx="8503920" cy="82296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"We can build AI systems that are both powerful and explainable.</a:t>
            </a:r>
            <a:br>
              <a:rPr lang="en-US" sz="16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We do not always have to choose one over the other."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[1]  Ault, J., Hanna, J. P., &amp; Sharon, G. (2020). Learning an Interpretable Traffic Signal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Control Policy. arXiv preprint arXiv:1912.11023v2.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[2]  Mnih, V. et al. (2015). Human-level control through deep reinforcement learning.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Nature, 518(7540), 529–533.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[3]  Schulman, J. et al. (2017). Proximal Policy Optimization Algorithms.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arXiv preprint arXiv:1707.06347.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[4]  Hansen, N. (2006). The CMA Evolution Strategy: A Comparing Review.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Towards a New Evolutionary Computation, pp. 75–102.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[5]  Lopez, P.A. et al. (2018). Microscopic Traffic Simulation using SUMO.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IEEE ITSC 2018.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/>
          <p:nvPr/>
        </p:nvSpPr>
        <p:spPr>
          <a:xfrm>
            <a:off x="-15088" y="2071003"/>
            <a:ext cx="12191695" cy="2560320"/>
          </a:xfrm>
          <a:prstGeom prst="rect">
            <a:avLst/>
          </a:prstGeom>
          <a:solidFill>
            <a:srgbClr val="152D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5029200" y="3611880"/>
            <a:ext cx="2103120" cy="27432"/>
          </a:xfrm>
          <a:prstGeom prst="rect">
            <a:avLst/>
          </a:prstGeom>
          <a:solidFill>
            <a:srgbClr val="BBCCD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Paper: arXiv 1912.11023v2  |  Authors: Ault, Hanna, Sharon (2020)</a:t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1371600" y="5760720"/>
            <a:ext cx="94183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2B6CB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2258</Words>
  <Application>Microsoft Office PowerPoint</Application>
  <PresentationFormat>Widescreen</PresentationFormat>
  <Paragraphs>230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Naaz Verma</cp:lastModifiedBy>
  <cp:revision>3</cp:revision>
  <dcterms:created xsi:type="dcterms:W3CDTF">2013-01-27T09:14:16Z</dcterms:created>
  <dcterms:modified xsi:type="dcterms:W3CDTF">2026-04-08T13:36:21Z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2026-04-07T07:36:55Z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a120cd2c-b839-40a8-a3ea-f22d0aeeb20d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