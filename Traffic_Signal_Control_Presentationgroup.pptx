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26" roundtripDataSignature="AMtx7mjIcXwF0d8Ts9qnZnaM9XNRlbFIo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customschemas.google.com/relationships/presentationmetadata" Target="metadata"/><Relationship Id="rId25" Type="http://schemas.openxmlformats.org/officeDocument/2006/relationships/slide" Target="slides/slide20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dd71594ea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g3dd71594eaf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d71594ea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g3dd71594eaf_0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d71594eaf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g3dd71594eaf_0_2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dd71594eaf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g3dd71594eaf_0_3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d71594eaf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g3dd71594eaf_0_4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dd71594eaf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g3dd71594eaf_0_5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7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9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9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0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0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1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1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1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1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256032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1371600" y="548640"/>
            <a:ext cx="9418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Learning an Interpretable</a:t>
            </a:r>
            <a:b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Traffic Signal Control Policy</a:t>
            </a:r>
            <a:endParaRPr/>
          </a:p>
        </p:txBody>
      </p:sp>
      <p:sp>
        <p:nvSpPr>
          <p:cNvPr id="86" name="Google Shape;86;p1"/>
          <p:cNvSpPr/>
          <p:nvPr/>
        </p:nvSpPr>
        <p:spPr>
          <a:xfrm>
            <a:off x="5029200" y="1874519"/>
            <a:ext cx="2103120" cy="27432"/>
          </a:xfrm>
          <a:prstGeom prst="rect">
            <a:avLst/>
          </a:prstGeom>
          <a:solidFill>
            <a:srgbClr val="BBCCD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1371600" y="2011680"/>
            <a:ext cx="9418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James Ault  |  Josiah P. Hanna  |  Guni Sharon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1371600" y="3108960"/>
            <a:ext cx="9418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arXiv: 1912.11023v2  |  2020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1371600" y="4114800"/>
            <a:ext cx="941832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Presented by: </a:t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1371600" y="4754880"/>
            <a:ext cx="9418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Assignment Presentation</a:t>
            </a:r>
            <a:endParaRPr/>
          </a:p>
        </p:txBody>
      </p:sp>
      <p:sp>
        <p:nvSpPr>
          <p:cNvPr id="91" name="Google Shape;91;p1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Presentation Outline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097280" y="1371600"/>
            <a:ext cx="731520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1.   Motivation &amp; Objective of the Paper</a:t>
            </a:r>
            <a:endParaRPr/>
          </a:p>
          <a:p>
            <a:pPr indent="0" lvl="0" marL="0" marR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2.   Key Techniques &amp; Algorithmic Approaches</a:t>
            </a:r>
            <a:endParaRPr/>
          </a:p>
          <a:p>
            <a:pPr indent="0" lvl="0" marL="0" marR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3.   Experimental Setup</a:t>
            </a:r>
            <a:endParaRPr/>
          </a:p>
          <a:p>
            <a:pPr indent="0" lvl="0" marL="0" marR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4.   Main Results &amp; Interpretation</a:t>
            </a:r>
            <a:endParaRPr/>
          </a:p>
          <a:p>
            <a:pPr indent="0" lvl="0" marL="0" marR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5.   Limitations &amp; Future Scope</a:t>
            </a:r>
            <a:endParaRPr/>
          </a:p>
          <a:p>
            <a:pPr indent="0" lvl="0" marL="0" marR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6.   Conclusion &amp; Key Takeaways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Motivation &amp; Problem Statement</a:t>
            </a:r>
            <a:endParaRPr/>
          </a:p>
        </p:txBody>
      </p:sp>
      <p:sp>
        <p:nvSpPr>
          <p:cNvPr id="106" name="Google Shape;106;p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3"/>
          <p:cNvSpPr txBox="1"/>
          <p:nvPr/>
        </p:nvSpPr>
        <p:spPr>
          <a:xfrm>
            <a:off x="548640" y="1097280"/>
            <a:ext cx="56692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The Interpretability Gap in Traffic Signal Control</a:t>
            </a:r>
            <a:endParaRPr/>
          </a:p>
        </p:txBody>
      </p:sp>
      <p:sp>
        <p:nvSpPr>
          <p:cNvPr id="108" name="Google Shape;108;p3"/>
          <p:cNvSpPr txBox="1"/>
          <p:nvPr/>
        </p:nvSpPr>
        <p:spPr>
          <a:xfrm>
            <a:off x="731520" y="1645920"/>
            <a:ext cx="566928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Traffic congestion costs billions annually in fuel, time, and emissions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Reinforcement Learning with DNNs can reduce vehicle delay by up to 73%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However, DNNs are black boxes — decisions cannot be explained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Government agencies require interpretable, auditable controllers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Current RL approaches are impractical for real-world deployment</a:t>
            </a:r>
            <a:endParaRPr/>
          </a:p>
        </p:txBody>
      </p:sp>
      <p:sp>
        <p:nvSpPr>
          <p:cNvPr id="109" name="Google Shape;109;p3"/>
          <p:cNvSpPr/>
          <p:nvPr/>
        </p:nvSpPr>
        <p:spPr>
          <a:xfrm>
            <a:off x="6766560" y="1097280"/>
            <a:ext cx="4846320" cy="2103120"/>
          </a:xfrm>
          <a:prstGeom prst="roundRect">
            <a:avLst>
              <a:gd fmla="val 16667" name="adj"/>
            </a:avLst>
          </a:prstGeom>
          <a:solidFill>
            <a:srgbClr val="EEF2F7"/>
          </a:solidFill>
          <a:ln cap="flat" cmpd="sng" w="12700">
            <a:solidFill>
              <a:srgbClr val="2B6CB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Core Research Question</a:t>
            </a:r>
            <a:b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Can we design traffic signal controllers</a:t>
            </a:r>
            <a:b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that are BOTH high-performing AND</a:t>
            </a:r>
            <a:b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human-interpretable?</a:t>
            </a:r>
            <a:b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Performance (DNN)  vs.  Interpretability</a:t>
            </a:r>
            <a:endParaRPr/>
          </a:p>
        </p:txBody>
      </p:sp>
      <p:sp>
        <p:nvSpPr>
          <p:cNvPr id="110" name="Google Shape;110;p3"/>
          <p:cNvSpPr/>
          <p:nvPr/>
        </p:nvSpPr>
        <p:spPr>
          <a:xfrm>
            <a:off x="6766560" y="3474720"/>
            <a:ext cx="4846320" cy="2743200"/>
          </a:xfrm>
          <a:prstGeom prst="roundRect">
            <a:avLst>
              <a:gd fmla="val 16667" name="adj"/>
            </a:avLst>
          </a:prstGeom>
          <a:solidFill>
            <a:srgbClr val="FDF0E0"/>
          </a:solidFill>
          <a:ln cap="flat" cmpd="sng" w="12700">
            <a:solidFill>
              <a:srgbClr val="D4A06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Why Interpretability is Non-Negotiable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Liability: Who is responsible if an accident occurs?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Regulation: Agencies must approve control logic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Trust: Engineers need to understand &amp; tune the system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Safety: Black-box failures can be catastrophic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Traffic signals are safety-critical infrastructure.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4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Paper Objective &amp; Contributions</a:t>
            </a:r>
            <a:endParaRPr/>
          </a:p>
        </p:txBody>
      </p:sp>
      <p:sp>
        <p:nvSpPr>
          <p:cNvPr id="117" name="Google Shape;117;p4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548640" y="1188720"/>
            <a:ext cx="11064240" cy="914400"/>
          </a:xfrm>
          <a:prstGeom prst="roundRect">
            <a:avLst>
              <a:gd fmla="val 16667" name="adj"/>
            </a:avLst>
          </a:prstGeom>
          <a:solidFill>
            <a:srgbClr val="EEF2F7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Objective: Design interpretable, regulatable control policies for traffic signals that match deep neural network performance while remaining fully human-understandable and tunable.</a:t>
            </a:r>
            <a:endParaRPr/>
          </a:p>
        </p:txBody>
      </p:sp>
      <p:sp>
        <p:nvSpPr>
          <p:cNvPr id="119" name="Google Shape;119;p4"/>
          <p:cNvSpPr txBox="1"/>
          <p:nvPr/>
        </p:nvSpPr>
        <p:spPr>
          <a:xfrm>
            <a:off x="548640" y="237744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Six Key Contributions:</a:t>
            </a:r>
            <a:endParaRPr/>
          </a:p>
        </p:txBody>
      </p:sp>
      <p:sp>
        <p:nvSpPr>
          <p:cNvPr id="120" name="Google Shape;120;p4"/>
          <p:cNvSpPr txBox="1"/>
          <p:nvPr/>
        </p:nvSpPr>
        <p:spPr>
          <a:xfrm>
            <a:off x="731520" y="2926080"/>
            <a:ext cx="105156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1.  Formally define a "regulatable" control function for signal control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2.  Compare regulatable functions against DNN-based policies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3.  Study three optimization methods: CMA-ES, PPO, Deep Q-Learning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4.  Develop three novel DQN variants using regulatable functions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 → DRQ, DRSQ, DRHQ (core technical contribution)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5.  Evaluate on simulations of real intersections with observed traffic demand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6.  Compare against deployed actuated controllers (practical baseline)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dd71594eaf_0_0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g3dd71594eaf_0_0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Traffic signal control as an MDP</a:t>
            </a:r>
            <a:endParaRPr/>
          </a:p>
        </p:txBody>
      </p:sp>
      <p:sp>
        <p:nvSpPr>
          <p:cNvPr id="127" name="Google Shape;127;g3dd71594eaf_0_0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5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Concept: Regulatable Control Function</a:t>
            </a:r>
            <a:endParaRPr/>
          </a:p>
        </p:txBody>
      </p:sp>
      <p:sp>
        <p:nvSpPr>
          <p:cNvPr id="134" name="Google Shape;134;p5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548640" y="1188720"/>
            <a:ext cx="5303520" cy="2011680"/>
          </a:xfrm>
          <a:prstGeom prst="roundRect">
            <a:avLst>
              <a:gd fmla="val 16667" name="adj"/>
            </a:avLst>
          </a:prstGeom>
          <a:solidFill>
            <a:srgbClr val="EEF2F7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Formal Definition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 precedence function g(s, Φ; θ) is regulatable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if for every state variable s[i]: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∂g/∂s[i]  ≥  0   for all states,   OR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∂g/∂s[i]  ≤  0   for all states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i.e., monotonic input-output relationships.</a:t>
            </a:r>
            <a:endParaRPr/>
          </a:p>
        </p:txBody>
      </p:sp>
      <p:sp>
        <p:nvSpPr>
          <p:cNvPr id="136" name="Google Shape;136;p5"/>
          <p:cNvSpPr/>
          <p:nvPr/>
        </p:nvSpPr>
        <p:spPr>
          <a:xfrm>
            <a:off x="6217920" y="1188720"/>
            <a:ext cx="5394960" cy="2011680"/>
          </a:xfrm>
          <a:prstGeom prst="roundRect">
            <a:avLst>
              <a:gd fmla="val 16667" name="adj"/>
            </a:avLst>
          </a:prstGeom>
          <a:solidFill>
            <a:srgbClr val="FDF0E0"/>
          </a:solidFill>
          <a:ln cap="flat" cmpd="sng" w="12700">
            <a:solidFill>
              <a:srgbClr val="D4A06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Practical Intuition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"Green was given to Phase 4 BECAUSE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stopped Southbound vehicles increased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while Eastbound queue decreased."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Every decision has a human-readable reason.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Engineers can adjust individual weights.</a:t>
            </a:r>
            <a:endParaRPr/>
          </a:p>
        </p:txBody>
      </p:sp>
      <p:sp>
        <p:nvSpPr>
          <p:cNvPr id="137" name="Google Shape;137;p5"/>
          <p:cNvSpPr txBox="1"/>
          <p:nvPr/>
        </p:nvSpPr>
        <p:spPr>
          <a:xfrm>
            <a:off x="548640" y="356616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State Variables (per traffic phase):</a:t>
            </a:r>
            <a:endParaRPr/>
          </a:p>
        </p:txBody>
      </p:sp>
      <p:sp>
        <p:nvSpPr>
          <p:cNvPr id="138" name="Google Shape;138;p5"/>
          <p:cNvSpPr txBox="1"/>
          <p:nvPr/>
        </p:nvSpPr>
        <p:spPr>
          <a:xfrm>
            <a:off x="731520" y="4023360"/>
            <a:ext cx="50292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1.  Stopped vehicles count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2.  Approaching vehicles count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3.  Cumulative stopped time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4.  Average stopped time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5.  Average queue length (stopped vehicles / lane count)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6.  Average approaching vehicle speed</a:t>
            </a:r>
            <a:endParaRPr/>
          </a:p>
        </p:txBody>
      </p:sp>
      <p:sp>
        <p:nvSpPr>
          <p:cNvPr id="139" name="Google Shape;139;p5"/>
          <p:cNvSpPr txBox="1"/>
          <p:nvPr/>
        </p:nvSpPr>
        <p:spPr>
          <a:xfrm>
            <a:off x="6217920" y="3566160"/>
            <a:ext cx="5394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Polynomial Precedence Function:</a:t>
            </a:r>
            <a:endParaRPr/>
          </a:p>
        </p:txBody>
      </p:sp>
      <p:sp>
        <p:nvSpPr>
          <p:cNvPr id="140" name="Google Shape;140;p5"/>
          <p:cNvSpPr/>
          <p:nvPr/>
        </p:nvSpPr>
        <p:spPr>
          <a:xfrm>
            <a:off x="6217920" y="4023360"/>
            <a:ext cx="5394960" cy="914400"/>
          </a:xfrm>
          <a:prstGeom prst="roundRect">
            <a:avLst>
              <a:gd fmla="val 16667" name="adj"/>
            </a:avLst>
          </a:prstGeom>
          <a:solidFill>
            <a:srgbClr val="EEF2F7"/>
          </a:solidFill>
          <a:ln cap="flat" cmpd="sng" w="12700">
            <a:solidFill>
              <a:srgbClr val="2B6CB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g(s, Φ; θ') = Σφ∈Φ Σi=1..6  (wi · s[i])^pi   ×   Σj=1..4  (w'j · fj)^p'j</a:t>
            </a:r>
            <a:endParaRPr/>
          </a:p>
        </p:txBody>
      </p:sp>
      <p:sp>
        <p:nvSpPr>
          <p:cNvPr id="141" name="Google Shape;141;p5"/>
          <p:cNvSpPr txBox="1"/>
          <p:nvPr/>
        </p:nvSpPr>
        <p:spPr>
          <a:xfrm>
            <a:off x="6400800" y="5120640"/>
            <a:ext cx="502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 Weights (w) and exponents (p) per state variable per phase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 For 8-phase intersection: 256 total tunable parameters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 Proven regulatable via Lemma 1 (monotonic partial derivatives)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6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Algorithmic Approach: Three Deep Regulatable Q-Learning Variants</a:t>
            </a:r>
            <a:endParaRPr/>
          </a:p>
        </p:txBody>
      </p:sp>
      <p:sp>
        <p:nvSpPr>
          <p:cNvPr id="148" name="Google Shape;148;p6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/>
          <p:nvPr/>
        </p:nvSpPr>
        <p:spPr>
          <a:xfrm>
            <a:off x="548640" y="1097280"/>
            <a:ext cx="11064240" cy="640080"/>
          </a:xfrm>
          <a:prstGeom prst="roundRect">
            <a:avLst>
              <a:gd fmla="val 16667" name="adj"/>
            </a:avLst>
          </a:prstGeom>
          <a:solidFill>
            <a:srgbClr val="EEF2F7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Core Idea:  Train a powerful DQN (black-box) first, then train the interpretable function G to imitate it.</a:t>
            </a:r>
            <a:endParaRPr/>
          </a:p>
        </p:txBody>
      </p:sp>
      <p:sp>
        <p:nvSpPr>
          <p:cNvPr id="150" name="Google Shape;150;p6"/>
          <p:cNvSpPr/>
          <p:nvPr/>
        </p:nvSpPr>
        <p:spPr>
          <a:xfrm>
            <a:off x="548640" y="2011680"/>
            <a:ext cx="3474720" cy="3291840"/>
          </a:xfrm>
          <a:prstGeom prst="roundRect">
            <a:avLst>
              <a:gd fmla="val 16667" name="adj"/>
            </a:avLst>
          </a:prstGeom>
          <a:solidFill>
            <a:srgbClr val="FCEBE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DRQ</a:t>
            </a: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Deep Regulatable Q-Learning</a:t>
            </a: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Goal: G(s,a) = Q(s,a)</a:t>
            </a: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(Match exact Q-values)</a:t>
            </a: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Loss: Squared error</a:t>
            </a: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(y - G(s,a;θ))²</a:t>
            </a: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Problem: Polynomial cannot</a:t>
            </a: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replicate full DNN capacity</a:t>
            </a: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Result: Worst performer</a:t>
            </a:r>
            <a:endParaRPr/>
          </a:p>
        </p:txBody>
      </p:sp>
      <p:sp>
        <p:nvSpPr>
          <p:cNvPr id="151" name="Google Shape;151;p6"/>
          <p:cNvSpPr/>
          <p:nvPr/>
        </p:nvSpPr>
        <p:spPr>
          <a:xfrm>
            <a:off x="4389120" y="2011680"/>
            <a:ext cx="3474720" cy="3291840"/>
          </a:xfrm>
          <a:prstGeom prst="roundRect">
            <a:avLst>
              <a:gd fmla="val 16667" name="adj"/>
            </a:avLst>
          </a:prstGeom>
          <a:solidFill>
            <a:srgbClr val="FDF0E0"/>
          </a:solidFill>
          <a:ln cap="flat" cmpd="sng" w="12700">
            <a:solidFill>
              <a:srgbClr val="D4A06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DRSQ</a:t>
            </a: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Deep Regulatable Softmax Q</a:t>
            </a: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Goal: G(s,·) ∝ Q(s,·)</a:t>
            </a: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(Match relative ranking)</a:t>
            </a: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Loss: Cross-entropy between</a:t>
            </a: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softmax(Q) and softmax(G)</a:t>
            </a: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Insight: Proportional</a:t>
            </a: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equivalence is sufficient</a:t>
            </a: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Result: Good performer</a:t>
            </a:r>
            <a:endParaRPr/>
          </a:p>
        </p:txBody>
      </p:sp>
      <p:sp>
        <p:nvSpPr>
          <p:cNvPr id="152" name="Google Shape;152;p6"/>
          <p:cNvSpPr/>
          <p:nvPr/>
        </p:nvSpPr>
        <p:spPr>
          <a:xfrm>
            <a:off x="8229600" y="2011680"/>
            <a:ext cx="3474720" cy="3291840"/>
          </a:xfrm>
          <a:prstGeom prst="roundRect">
            <a:avLst>
              <a:gd fmla="val 16667" name="adj"/>
            </a:avLst>
          </a:prstGeom>
          <a:solidFill>
            <a:srgbClr val="E8F5EB"/>
          </a:solidFill>
          <a:ln cap="flat" cmpd="sng" w="12700">
            <a:solidFill>
              <a:srgbClr val="277A3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DRHQ  (Best)</a:t>
            </a: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Deep Regulatable Hardmax Q</a:t>
            </a: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Goal: argmax G = argmax Q</a:t>
            </a: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(Match only the winning action)</a:t>
            </a: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Loss: Cross-entropy between</a:t>
            </a: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one-hot(argmax Q) &amp; softmax(G)</a:t>
            </a: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Insight: Maximum flexibility,</a:t>
            </a: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only policy equivalence needed</a:t>
            </a: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Result: Best performer</a:t>
            </a:r>
            <a:endParaRPr/>
          </a:p>
        </p:txBody>
      </p:sp>
      <p:sp>
        <p:nvSpPr>
          <p:cNvPr id="153" name="Google Shape;153;p6"/>
          <p:cNvSpPr/>
          <p:nvPr/>
        </p:nvSpPr>
        <p:spPr>
          <a:xfrm>
            <a:off x="548640" y="5577840"/>
            <a:ext cx="11064240" cy="548640"/>
          </a:xfrm>
          <a:prstGeom prst="roundRect">
            <a:avLst>
              <a:gd fmla="val 16667" name="adj"/>
            </a:avLst>
          </a:prstGeom>
          <a:solidFill>
            <a:srgbClr val="EEF2F7"/>
          </a:solidFill>
          <a:ln cap="flat" cmpd="sng" w="12700">
            <a:solidFill>
              <a:srgbClr val="2B6CB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Progression:   Match exact values (hard)   →   Match rankings (easier)   →   Match winner only (easiest &amp; best)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d71594eaf_0_10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g3dd71594eaf_0_10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DRQ Deep Regulatable Q-Learning</a:t>
            </a:r>
            <a:endParaRPr b="1" sz="2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g3dd71594eaf_0_10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d71594eaf_0_21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g3dd71594eaf_0_21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DRSQ Deep Regulatable Softmax Q</a:t>
            </a:r>
            <a:endParaRPr b="1" sz="2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g3dd71594eaf_0_21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d71594eaf_0_32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g3dd71594eaf_0_32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DRHQ Deep Regulatable Hardmax Q</a:t>
            </a:r>
            <a:endParaRPr b="1" sz="2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g3dd71594eaf_0_32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dd71594eaf_0_43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g3dd71594eaf_0_43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Alternative Optimization Methods: CMA-ES &amp; PPO </a:t>
            </a: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(REFERENCE)</a:t>
            </a:r>
            <a:endParaRPr/>
          </a:p>
        </p:txBody>
      </p:sp>
      <p:sp>
        <p:nvSpPr>
          <p:cNvPr id="181" name="Google Shape;181;g3dd71594eaf_0_43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g3dd71594eaf_0_43"/>
          <p:cNvSpPr txBox="1"/>
          <p:nvPr/>
        </p:nvSpPr>
        <p:spPr>
          <a:xfrm>
            <a:off x="548640" y="1097280"/>
            <a:ext cx="5303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CMA-ES (Covariance Matrix Adaptation Evolution Strategy)</a:t>
            </a:r>
            <a:endParaRPr/>
          </a:p>
        </p:txBody>
      </p:sp>
      <p:sp>
        <p:nvSpPr>
          <p:cNvPr id="183" name="Google Shape;183;g3dd71594eaf_0_43"/>
          <p:cNvSpPr txBox="1"/>
          <p:nvPr/>
        </p:nvSpPr>
        <p:spPr>
          <a:xfrm>
            <a:off x="731520" y="1554480"/>
            <a:ext cx="5029200" cy="27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Type: Evolutionary / black-box optimization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Few hyperparameters; handles continuous ranges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Achieves near-DQN performance (validates function design)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Limitations: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Needs 24 episodes per parameter update (very slow)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Erratic exploration — unsafe during tuning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~4,000 episodes to stabilize (11 years of simulated traffic)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Impractical for online / real-world deployment</a:t>
            </a:r>
            <a:endParaRPr/>
          </a:p>
        </p:txBody>
      </p:sp>
      <p:sp>
        <p:nvSpPr>
          <p:cNvPr id="184" name="Google Shape;184;g3dd71594eaf_0_43"/>
          <p:cNvSpPr txBox="1"/>
          <p:nvPr/>
        </p:nvSpPr>
        <p:spPr>
          <a:xfrm>
            <a:off x="6400800" y="1097280"/>
            <a:ext cx="5303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PPO (Proximal Policy Optimization)</a:t>
            </a:r>
            <a:endParaRPr/>
          </a:p>
        </p:txBody>
      </p:sp>
      <p:sp>
        <p:nvSpPr>
          <p:cNvPr id="185" name="Google Shape;185;g3dd71594eaf_0_43"/>
          <p:cNvSpPr txBox="1"/>
          <p:nvPr/>
        </p:nvSpPr>
        <p:spPr>
          <a:xfrm>
            <a:off x="6583680" y="1554480"/>
            <a:ext cx="5029200" cy="27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Type: Policy gradient method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Smooth, monotonic learning curves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Bounded gradient steps ensure safe exploration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Limitations: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Gets stuck in local optima (over-regularized)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Suboptimal final convergence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Cannot beat actuated control under high demand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Insufficient for this domain despite safety benefits</a:t>
            </a:r>
            <a:endParaRPr/>
          </a:p>
        </p:txBody>
      </p:sp>
      <p:sp>
        <p:nvSpPr>
          <p:cNvPr id="186" name="Google Shape;186;g3dd71594eaf_0_43"/>
          <p:cNvSpPr/>
          <p:nvPr/>
        </p:nvSpPr>
        <p:spPr>
          <a:xfrm>
            <a:off x="548640" y="5577840"/>
            <a:ext cx="11064300" cy="640200"/>
          </a:xfrm>
          <a:prstGeom prst="roundRect">
            <a:avLst>
              <a:gd fmla="val 16667" name="adj"/>
            </a:avLst>
          </a:prstGeom>
          <a:solidFill>
            <a:srgbClr val="EEF2F7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Conclusion: Neither CMA-ES nor PPO are suitable for practical deployment. The DQN-based variants (especially DRHQ) are the most effective approach.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7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7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CMA-ES (Covariance Matrix Adaptation Evolution Strategy)</a:t>
            </a:r>
            <a:endParaRPr b="1" sz="2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7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dd71594eaf_0_54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g3dd71594eaf_0_54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PPO</a:t>
            </a:r>
            <a:endParaRPr/>
          </a:p>
        </p:txBody>
      </p:sp>
      <p:sp>
        <p:nvSpPr>
          <p:cNvPr id="200" name="Google Shape;200;g3dd71594eaf_0_54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8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8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Experimental Setup</a:t>
            </a:r>
            <a:endParaRPr/>
          </a:p>
        </p:txBody>
      </p:sp>
      <p:sp>
        <p:nvSpPr>
          <p:cNvPr id="207" name="Google Shape;207;p8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8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Simulation Environment</a:t>
            </a:r>
            <a:endParaRPr/>
          </a:p>
        </p:txBody>
      </p:sp>
      <p:sp>
        <p:nvSpPr>
          <p:cNvPr id="209" name="Google Shape;209;p8"/>
          <p:cNvSpPr txBox="1"/>
          <p:nvPr/>
        </p:nvSpPr>
        <p:spPr>
          <a:xfrm>
            <a:off x="731520" y="1554480"/>
            <a:ext cx="530352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Simulator: SUMO (Simulation of Urban Mobility)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Real traffic data from Utah DOT (2,092 intersections)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Test site: State St &amp; E 4500 S, Murray, Utah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10 traffic phases, 11 non-conflicting phase pairs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&gt;50,000 vehicles/day, peak rate: 95 cars/min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352 tunable parameters for regulatable policy</a:t>
            </a:r>
            <a:endParaRPr/>
          </a:p>
        </p:txBody>
      </p:sp>
      <p:sp>
        <p:nvSpPr>
          <p:cNvPr id="210" name="Google Shape;210;p8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Traffic Demand Profiles</a:t>
            </a:r>
            <a:endParaRPr/>
          </a:p>
        </p:txBody>
      </p:sp>
      <p:sp>
        <p:nvSpPr>
          <p:cNvPr id="211" name="Google Shape;211;p8"/>
          <p:cNvSpPr/>
          <p:nvPr/>
        </p:nvSpPr>
        <p:spPr>
          <a:xfrm>
            <a:off x="6400800" y="1554480"/>
            <a:ext cx="5212080" cy="502920"/>
          </a:xfrm>
          <a:prstGeom prst="roundRect">
            <a:avLst>
              <a:gd fmla="val 16667" name="adj"/>
            </a:avLst>
          </a:prstGeom>
          <a:solidFill>
            <a:srgbClr val="E8F5EB"/>
          </a:solidFill>
          <a:ln cap="flat" cmpd="sng" w="12700">
            <a:solidFill>
              <a:srgbClr val="277A3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Low:      45,112 vehicles  |  1.04 v/sec  |  Wed May 1, 2019</a:t>
            </a:r>
            <a:endParaRPr/>
          </a:p>
        </p:txBody>
      </p:sp>
      <p:sp>
        <p:nvSpPr>
          <p:cNvPr id="212" name="Google Shape;212;p8"/>
          <p:cNvSpPr/>
          <p:nvPr/>
        </p:nvSpPr>
        <p:spPr>
          <a:xfrm>
            <a:off x="6400800" y="2148840"/>
            <a:ext cx="5212080" cy="502920"/>
          </a:xfrm>
          <a:prstGeom prst="roundRect">
            <a:avLst>
              <a:gd fmla="val 16667" name="adj"/>
            </a:avLst>
          </a:prstGeom>
          <a:solidFill>
            <a:srgbClr val="FDF0E0"/>
          </a:solidFill>
          <a:ln cap="flat" cmpd="sng" w="12700">
            <a:solidFill>
              <a:srgbClr val="D4A06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Medium:  51,298 vehicles  |  1.19 v/sec  |  Mon May 6, 2019</a:t>
            </a:r>
            <a:endParaRPr/>
          </a:p>
        </p:txBody>
      </p:sp>
      <p:sp>
        <p:nvSpPr>
          <p:cNvPr id="213" name="Google Shape;213;p8"/>
          <p:cNvSpPr/>
          <p:nvPr/>
        </p:nvSpPr>
        <p:spPr>
          <a:xfrm>
            <a:off x="6400800" y="2743200"/>
            <a:ext cx="5212080" cy="502920"/>
          </a:xfrm>
          <a:prstGeom prst="roundRect">
            <a:avLst>
              <a:gd fmla="val 16667" name="adj"/>
            </a:avLst>
          </a:prstGeom>
          <a:solidFill>
            <a:srgbClr val="FCEBE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High:     61,261 vehicles  |  1.42 v/sec  |  Fri Jun 21, 2019</a:t>
            </a:r>
            <a:endParaRPr/>
          </a:p>
        </p:txBody>
      </p:sp>
      <p:sp>
        <p:nvSpPr>
          <p:cNvPr id="214" name="Google Shape;214;p8"/>
          <p:cNvSpPr txBox="1"/>
          <p:nvPr/>
        </p:nvSpPr>
        <p:spPr>
          <a:xfrm>
            <a:off x="6400800" y="356616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DQN Hyperparameters</a:t>
            </a:r>
            <a:endParaRPr/>
          </a:p>
        </p:txBody>
      </p:sp>
      <p:sp>
        <p:nvSpPr>
          <p:cNvPr id="215" name="Google Shape;215;p8"/>
          <p:cNvSpPr txBox="1"/>
          <p:nvPr/>
        </p:nvSpPr>
        <p:spPr>
          <a:xfrm>
            <a:off x="6583680" y="4023360"/>
            <a:ext cx="50292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3 hidden layers, 64 units each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Replay buffer: 100,000 transitions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Minibatch size: 32  |  Optimizer: Adam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Epsilon-greedy: 0.05 → 0 after 20 episodes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Discount factor: 0.8 (low/med), 0.9 (high)</a:t>
            </a:r>
            <a:endParaRPr/>
          </a:p>
        </p:txBody>
      </p:sp>
      <p:sp>
        <p:nvSpPr>
          <p:cNvPr id="216" name="Google Shape;216;p8"/>
          <p:cNvSpPr txBox="1"/>
          <p:nvPr/>
        </p:nvSpPr>
        <p:spPr>
          <a:xfrm>
            <a:off x="548640" y="420624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Baseline: Actuated Signal Controller</a:t>
            </a:r>
            <a:endParaRPr/>
          </a:p>
        </p:txBody>
      </p:sp>
      <p:sp>
        <p:nvSpPr>
          <p:cNvPr id="217" name="Google Shape;217;p8"/>
          <p:cNvSpPr txBox="1"/>
          <p:nvPr/>
        </p:nvSpPr>
        <p:spPr>
          <a:xfrm>
            <a:off x="731520" y="4663440"/>
            <a:ext cx="530352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SUMO’s actuated controller (used in real deployments)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Phases in fixed order (protected lefts → through traffic)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Maximum green time: 300 seconds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This is what real intersections use today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9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9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Main Results: Average Vehicle Delay Comparison</a:t>
            </a:r>
            <a:endParaRPr/>
          </a:p>
        </p:txBody>
      </p:sp>
      <p:sp>
        <p:nvSpPr>
          <p:cNvPr id="224" name="Google Shape;224;p9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9"/>
          <p:cNvSpPr/>
          <p:nvPr/>
        </p:nvSpPr>
        <p:spPr>
          <a:xfrm>
            <a:off x="548640" y="1097280"/>
            <a:ext cx="11064240" cy="502920"/>
          </a:xfrm>
          <a:prstGeom prst="roundRect">
            <a:avLst>
              <a:gd fmla="val 16667" name="adj"/>
            </a:avLst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Average Vehicle Delay (seconds)  —  Lower is Better</a:t>
            </a:r>
            <a:endParaRPr/>
          </a:p>
        </p:txBody>
      </p:sp>
      <p:sp>
        <p:nvSpPr>
          <p:cNvPr id="226" name="Google Shape;226;p9"/>
          <p:cNvSpPr txBox="1"/>
          <p:nvPr/>
        </p:nvSpPr>
        <p:spPr>
          <a:xfrm>
            <a:off x="731520" y="178308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B3A5C"/>
                </a:solidFill>
                <a:latin typeface="Consolas"/>
                <a:ea typeface="Consolas"/>
                <a:cs typeface="Consolas"/>
                <a:sym typeface="Consolas"/>
              </a:rPr>
              <a:t>Method                         Low Demand        Medium Demand       High Demand</a:t>
            </a: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731520" y="2103120"/>
            <a:ext cx="10515600" cy="18288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9"/>
          <p:cNvSpPr txBox="1"/>
          <p:nvPr/>
        </p:nvSpPr>
        <p:spPr>
          <a:xfrm>
            <a:off x="731520" y="224028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Actuated (Baseline)            ~60 sec            ~70 sec              ~95 sec</a:t>
            </a: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731520" y="2587752"/>
            <a:ext cx="10515600" cy="9144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9"/>
          <p:cNvSpPr txBox="1"/>
          <p:nvPr/>
        </p:nvSpPr>
        <p:spPr>
          <a:xfrm>
            <a:off x="731520" y="260604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CMA-ES                         ~50 sec            ~58 sec              ~85 sec</a:t>
            </a: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731520" y="2953512"/>
            <a:ext cx="10515600" cy="9144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9"/>
          <p:cNvSpPr txBox="1"/>
          <p:nvPr/>
        </p:nvSpPr>
        <p:spPr>
          <a:xfrm>
            <a:off x="731520" y="29718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C0392B"/>
                </a:solidFill>
                <a:latin typeface="Consolas"/>
                <a:ea typeface="Consolas"/>
                <a:cs typeface="Consolas"/>
                <a:sym typeface="Consolas"/>
              </a:rPr>
              <a:t>PPO                            ~55 sec            ~65 sec              ~95 sec  (fails in high)</a:t>
            </a:r>
            <a:endParaRPr/>
          </a:p>
        </p:txBody>
      </p:sp>
      <p:sp>
        <p:nvSpPr>
          <p:cNvPr id="233" name="Google Shape;233;p9"/>
          <p:cNvSpPr/>
          <p:nvPr/>
        </p:nvSpPr>
        <p:spPr>
          <a:xfrm>
            <a:off x="731520" y="3319272"/>
            <a:ext cx="10515600" cy="9144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9"/>
          <p:cNvSpPr txBox="1"/>
          <p:nvPr/>
        </p:nvSpPr>
        <p:spPr>
          <a:xfrm>
            <a:off x="731520" y="33375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C0392B"/>
                </a:solidFill>
                <a:latin typeface="Consolas"/>
                <a:ea typeface="Consolas"/>
                <a:cs typeface="Consolas"/>
                <a:sym typeface="Consolas"/>
              </a:rPr>
              <a:t>DRQ                            Poor               Poor                 Poor</a:t>
            </a:r>
            <a:endParaRPr/>
          </a:p>
        </p:txBody>
      </p:sp>
      <p:sp>
        <p:nvSpPr>
          <p:cNvPr id="235" name="Google Shape;235;p9"/>
          <p:cNvSpPr/>
          <p:nvPr/>
        </p:nvSpPr>
        <p:spPr>
          <a:xfrm>
            <a:off x="731520" y="3685032"/>
            <a:ext cx="10515600" cy="9144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9"/>
          <p:cNvSpPr txBox="1"/>
          <p:nvPr/>
        </p:nvSpPr>
        <p:spPr>
          <a:xfrm>
            <a:off x="731520" y="370332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DRSQ                           ~52 sec            ~62 sec              ~87 sec</a:t>
            </a:r>
            <a:endParaRPr/>
          </a:p>
        </p:txBody>
      </p:sp>
      <p:sp>
        <p:nvSpPr>
          <p:cNvPr id="237" name="Google Shape;237;p9"/>
          <p:cNvSpPr/>
          <p:nvPr/>
        </p:nvSpPr>
        <p:spPr>
          <a:xfrm>
            <a:off x="731520" y="4050792"/>
            <a:ext cx="10515600" cy="9144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9"/>
          <p:cNvSpPr txBox="1"/>
          <p:nvPr/>
        </p:nvSpPr>
        <p:spPr>
          <a:xfrm>
            <a:off x="731520" y="406908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77A3E"/>
                </a:solidFill>
                <a:latin typeface="Consolas"/>
                <a:ea typeface="Consolas"/>
                <a:cs typeface="Consolas"/>
                <a:sym typeface="Consolas"/>
              </a:rPr>
              <a:t>DRHQ  (Best Interpretable)     ~50 sec            ~60 sec              ~85 sec</a:t>
            </a:r>
            <a:endParaRPr/>
          </a:p>
        </p:txBody>
      </p:sp>
      <p:sp>
        <p:nvSpPr>
          <p:cNvPr id="239" name="Google Shape;239;p9"/>
          <p:cNvSpPr/>
          <p:nvPr/>
        </p:nvSpPr>
        <p:spPr>
          <a:xfrm>
            <a:off x="731520" y="4416552"/>
            <a:ext cx="10515600" cy="9144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9"/>
          <p:cNvSpPr txBox="1"/>
          <p:nvPr/>
        </p:nvSpPr>
        <p:spPr>
          <a:xfrm>
            <a:off x="731520" y="443484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B6CB3"/>
                </a:solidFill>
                <a:latin typeface="Consolas"/>
                <a:ea typeface="Consolas"/>
                <a:cs typeface="Consolas"/>
                <a:sym typeface="Consolas"/>
              </a:rPr>
              <a:t>DQN   (Black-box Upper Bound)  ~48 sec            ~57 sec              ~82 sec</a:t>
            </a:r>
            <a:endParaRPr/>
          </a:p>
        </p:txBody>
      </p:sp>
      <p:sp>
        <p:nvSpPr>
          <p:cNvPr id="241" name="Google Shape;241;p9"/>
          <p:cNvSpPr/>
          <p:nvPr/>
        </p:nvSpPr>
        <p:spPr>
          <a:xfrm>
            <a:off x="548640" y="5029200"/>
            <a:ext cx="11064240" cy="1097280"/>
          </a:xfrm>
          <a:prstGeom prst="roundRect">
            <a:avLst>
              <a:gd fmla="val 16667" name="adj"/>
            </a:avLst>
          </a:prstGeom>
          <a:solidFill>
            <a:srgbClr val="E8F5EB"/>
          </a:solidFill>
          <a:ln cap="flat" cmpd="sng" w="12700">
            <a:solidFill>
              <a:srgbClr val="277A3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Key Finding:  DRHQ achieves up to 19.4% reduced vehicle delay compared to deployed actuated controllers,</a:t>
            </a:r>
            <a:b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while remaining fully interpretable.  The gap vs. the black-box DQN is only 1–3 seconds.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0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Interpretation of Results</a:t>
            </a:r>
            <a:endParaRPr/>
          </a:p>
        </p:txBody>
      </p:sp>
      <p:sp>
        <p:nvSpPr>
          <p:cNvPr id="248" name="Google Shape;248;p10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0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Why DRHQ Works Best</a:t>
            </a:r>
            <a:endParaRPr/>
          </a:p>
        </p:txBody>
      </p:sp>
      <p:sp>
        <p:nvSpPr>
          <p:cNvPr id="250" name="Google Shape;250;p10"/>
          <p:cNvSpPr txBox="1"/>
          <p:nvPr/>
        </p:nvSpPr>
        <p:spPr>
          <a:xfrm>
            <a:off x="731520" y="1554480"/>
            <a:ext cx="530352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Only needs to match which action wins, not exact Q-values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Gives maximum flexibility to the polynomial function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Hardmax formulation directly targets policy equivalence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Converges within a single episode for low/medium demand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"Less is more": easier target = better practical fit</a:t>
            </a:r>
            <a:endParaRPr/>
          </a:p>
        </p:txBody>
      </p:sp>
      <p:sp>
        <p:nvSpPr>
          <p:cNvPr id="251" name="Google Shape;251;p10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Why Other Methods Fall Short</a:t>
            </a:r>
            <a:endParaRPr/>
          </a:p>
        </p:txBody>
      </p:sp>
      <p:sp>
        <p:nvSpPr>
          <p:cNvPr id="252" name="Google Shape;252;p10"/>
          <p:cNvSpPr txBox="1"/>
          <p:nvPr/>
        </p:nvSpPr>
        <p:spPr>
          <a:xfrm>
            <a:off x="6583680" y="1554480"/>
            <a:ext cx="530352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DRQ: Cannot approximate the full Q-function surface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DRSQ: Softmax ranking harder to match than just the winner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PPO: Over-regularized, converges to local optima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CMA-ES: Requires thousands of episodes, unsafe exploration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Pure polynomial/Fourier: Cannot complete basic scenarios</a:t>
            </a:r>
            <a:endParaRPr/>
          </a:p>
        </p:txBody>
      </p:sp>
      <p:sp>
        <p:nvSpPr>
          <p:cNvPr id="253" name="Google Shape;253;p10"/>
          <p:cNvSpPr/>
          <p:nvPr/>
        </p:nvSpPr>
        <p:spPr>
          <a:xfrm>
            <a:off x="548640" y="4572000"/>
            <a:ext cx="11064240" cy="1463040"/>
          </a:xfrm>
          <a:prstGeom prst="roundRect">
            <a:avLst>
              <a:gd fmla="val 16667" name="adj"/>
            </a:avLst>
          </a:prstGeom>
          <a:solidFill>
            <a:srgbClr val="EEF2F7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Critical Insight</a:t>
            </a:r>
            <a:b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The performance gap between DRHQ (~50–85 sec) and the full black-box DQN (~48–82 sec) is only 1–3 seconds.</a:t>
            </a:r>
            <a:b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This marginal cost buys complete interpretability — every decision can be explained, audited,</a:t>
            </a:r>
            <a:b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and manually adjusted by traffic engineers.  For safety-critical infrastructure, this is an excellent trade-off.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1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Limitations &amp; Future Scope</a:t>
            </a:r>
            <a:endParaRPr/>
          </a:p>
        </p:txBody>
      </p:sp>
      <p:sp>
        <p:nvSpPr>
          <p:cNvPr id="260" name="Google Shape;260;p11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1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Limitations of This Work</a:t>
            </a:r>
            <a:endParaRPr/>
          </a:p>
        </p:txBody>
      </p:sp>
      <p:sp>
        <p:nvSpPr>
          <p:cNvPr id="262" name="Google Shape;262;p11"/>
          <p:cNvSpPr txBox="1"/>
          <p:nvPr/>
        </p:nvSpPr>
        <p:spPr>
          <a:xfrm>
            <a:off x="731520" y="1554480"/>
            <a:ext cx="530352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Single intersection only — transferability is unknown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All results are from simulation (SUMO), no real-world test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CMA-ES is impractical despite showing ceiling performance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PPO fails under high demand scenarios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No warm-starting from existing controllers explored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352 parameters still requires significant compute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Limited to one geographic region (Utah traffic data only)</a:t>
            </a:r>
            <a:endParaRPr/>
          </a:p>
        </p:txBody>
      </p:sp>
      <p:sp>
        <p:nvSpPr>
          <p:cNvPr id="263" name="Google Shape;263;p11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277A3E"/>
                </a:solidFill>
                <a:latin typeface="Calibri"/>
                <a:ea typeface="Calibri"/>
                <a:cs typeface="Calibri"/>
                <a:sym typeface="Calibri"/>
              </a:rPr>
              <a:t>Future Research Directions</a:t>
            </a:r>
            <a:endParaRPr/>
          </a:p>
        </p:txBody>
      </p:sp>
      <p:sp>
        <p:nvSpPr>
          <p:cNvPr id="264" name="Google Shape;264;p11"/>
          <p:cNvSpPr txBox="1"/>
          <p:nvPr/>
        </p:nvSpPr>
        <p:spPr>
          <a:xfrm>
            <a:off x="6583680" y="1554480"/>
            <a:ext cx="530352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Warm-starting from currently deployed controller behavior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Multi-intersection coordination &amp; network optimization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Real-world deployment and field testing validation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Transferability studies across intersection types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Incorporating pedestrian and cyclist signal phases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Adaptive parameter count based on intersection complexity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Integration with connected &amp; autonomous vehicle data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 &amp; Key Takeaways</a:t>
            </a:r>
            <a:endParaRPr/>
          </a:p>
        </p:txBody>
      </p:sp>
      <p:sp>
        <p:nvSpPr>
          <p:cNvPr id="271" name="Google Shape;271;p1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2"/>
          <p:cNvSpPr txBox="1"/>
          <p:nvPr/>
        </p:nvSpPr>
        <p:spPr>
          <a:xfrm>
            <a:off x="914400" y="1188720"/>
            <a:ext cx="1033272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1.   Interpretable polynomial policies CAN match DNN performance (gap ≤ 1–3 sec)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2.   DRHQ (Hardmax variant) achieves 19.4% delay reduction vs. actuated controllers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3.   "Regulatable" = monotonic input-output relationship = human-understandable decisions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4.   Policy gradient methods (PPO) are unsuitable for traffic signal optimization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5.   The paper bridges the gap between AI performance and real-world deployability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6.   Interpretability is not a luxury — it is a requirement for safety-critical systems</a:t>
            </a:r>
            <a:endParaRPr/>
          </a:p>
        </p:txBody>
      </p:sp>
      <p:sp>
        <p:nvSpPr>
          <p:cNvPr id="273" name="Google Shape;273;p12"/>
          <p:cNvSpPr/>
          <p:nvPr/>
        </p:nvSpPr>
        <p:spPr>
          <a:xfrm>
            <a:off x="1828800" y="5303520"/>
            <a:ext cx="8503920" cy="822960"/>
          </a:xfrm>
          <a:prstGeom prst="roundRect">
            <a:avLst>
              <a:gd fmla="val 16667" name="adj"/>
            </a:avLst>
          </a:prstGeom>
          <a:solidFill>
            <a:srgbClr val="EEF2F7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"We can build AI systems that are both powerful and explainable.</a:t>
            </a:r>
            <a:br>
              <a:rPr b="0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We do not always have to choose one over the other."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3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3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References</a:t>
            </a:r>
            <a:endParaRPr/>
          </a:p>
        </p:txBody>
      </p:sp>
      <p:sp>
        <p:nvSpPr>
          <p:cNvPr id="280" name="Google Shape;280;p1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[1]  Ault, J., Hanna, J. P., &amp; Sharon, G. (2020). Learning an Interpretable Traffic Signal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 Control Policy. arXiv preprint arXiv:1912.11023v2.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[2]  Mnih, V. et al. (2015). Human-level control through deep reinforcement learning.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 Nature, 518(7540), 529–533.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[3]  Schulman, J. et al. (2017). Proximal Policy Optimization Algorithms.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 arXiv preprint arXiv:1707.06347.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[4]  Hansen, N. (2006). The CMA Evolution Strategy: A Comparing Review.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 Towards a New Evolutionary Computation, pp. 75–102.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[5]  Lopez, P.A. et al. (2018). Microscopic Traffic Simulation using SUMO.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 IEEE ITSC 2018.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4"/>
          <p:cNvSpPr/>
          <p:nvPr/>
        </p:nvSpPr>
        <p:spPr>
          <a:xfrm>
            <a:off x="-15088" y="2071003"/>
            <a:ext cx="12191695" cy="256032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4"/>
          <p:cNvSpPr txBox="1"/>
          <p:nvPr/>
        </p:nvSpPr>
        <p:spPr>
          <a:xfrm>
            <a:off x="1371600" y="2743200"/>
            <a:ext cx="9418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/>
          </a:p>
        </p:txBody>
      </p:sp>
      <p:sp>
        <p:nvSpPr>
          <p:cNvPr id="288" name="Google Shape;288;p14"/>
          <p:cNvSpPr/>
          <p:nvPr/>
        </p:nvSpPr>
        <p:spPr>
          <a:xfrm>
            <a:off x="5029200" y="3611880"/>
            <a:ext cx="2103120" cy="27432"/>
          </a:xfrm>
          <a:prstGeom prst="rect">
            <a:avLst/>
          </a:prstGeom>
          <a:solidFill>
            <a:srgbClr val="BBCCD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4"/>
          <p:cNvSpPr txBox="1"/>
          <p:nvPr/>
        </p:nvSpPr>
        <p:spPr>
          <a:xfrm>
            <a:off x="1371600" y="5303520"/>
            <a:ext cx="9418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Paper: arXiv 1912.11023v2  |  Authors: Ault, Hanna, Sharon (2020)</a:t>
            </a:r>
            <a:endParaRPr/>
          </a:p>
        </p:txBody>
      </p:sp>
      <p:sp>
        <p:nvSpPr>
          <p:cNvPr id="290" name="Google Shape;290;p14"/>
          <p:cNvSpPr txBox="1"/>
          <p:nvPr/>
        </p:nvSpPr>
        <p:spPr>
          <a:xfrm>
            <a:off x="1371600" y="5760720"/>
            <a:ext cx="941832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Presented by:</a:t>
            </a:r>
            <a:endParaRPr/>
          </a:p>
        </p:txBody>
      </p:sp>
      <p:sp>
        <p:nvSpPr>
          <p:cNvPr id="291" name="Google Shape;291;p14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63535f3-a261-44fa-a080-b5a7b0a48f70_Enabled">
    <vt:lpwstr>true</vt:lpwstr>
  </property>
  <property fmtid="{D5CDD505-2E9C-101B-9397-08002B2CF9AE}" pid="3" name="MSIP_Label_163535f3-a261-44fa-a080-b5a7b0a48f70_SetDate">
    <vt:lpwstr>2026-04-07T07:36:55Z</vt:lpwstr>
  </property>
  <property fmtid="{D5CDD505-2E9C-101B-9397-08002B2CF9AE}" pid="4" name="MSIP_Label_163535f3-a261-44fa-a080-b5a7b0a48f70_Method">
    <vt:lpwstr>Standard</vt:lpwstr>
  </property>
  <property fmtid="{D5CDD505-2E9C-101B-9397-08002B2CF9AE}" pid="5" name="MSIP_Label_163535f3-a261-44fa-a080-b5a7b0a48f70_Name">
    <vt:lpwstr>UKG DLP Protected</vt:lpwstr>
  </property>
  <property fmtid="{D5CDD505-2E9C-101B-9397-08002B2CF9AE}" pid="6" name="MSIP_Label_163535f3-a261-44fa-a080-b5a7b0a48f70_SiteId">
    <vt:lpwstr>7b6f35d2-1f98-4e5e-82eb-e78f6ea5a1de</vt:lpwstr>
  </property>
  <property fmtid="{D5CDD505-2E9C-101B-9397-08002B2CF9AE}" pid="7" name="MSIP_Label_163535f3-a261-44fa-a080-b5a7b0a48f70_ActionId">
    <vt:lpwstr>a120cd2c-b839-40a8-a3ea-f22d0aeeb20d</vt:lpwstr>
  </property>
  <property fmtid="{D5CDD505-2E9C-101B-9397-08002B2CF9AE}" pid="8" name="MSIP_Label_163535f3-a261-44fa-a080-b5a7b0a48f70_ContentBits">
    <vt:lpwstr>0</vt:lpwstr>
  </property>
  <property fmtid="{D5CDD505-2E9C-101B-9397-08002B2CF9AE}" pid="9" name="MSIP_Label_163535f3-a261-44fa-a080-b5a7b0a48f70_Tag">
    <vt:lpwstr>10, 3, 0, 1</vt:lpwstr>
  </property>
</Properties>
</file>