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Learning an Interpretable</a:t>
            </a:r>
            <a:br/>
            <a:r>
              <a:t>Traffic Signal Control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74519"/>
            <a:ext cx="2103120" cy="2743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James Ault  |  Josiah P. Hanna  |  Guni Sharon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arXiv: 1912.11023v2  | 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rPr dirty="0"/>
              <a:t>Presented by: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Assignment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  Motivation &amp; Objective of the Paper</a:t>
            </a:r>
          </a:p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  Key Techniques &amp; Algorithmic Approaches</a:t>
            </a:r>
          </a:p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  Experimental Setup</a:t>
            </a:r>
          </a:p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  Main Results &amp; Interpretation</a:t>
            </a:r>
          </a:p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  Limitations &amp; Future Scope</a:t>
            </a:r>
          </a:p>
          <a:p>
            <a:pPr>
              <a:spcAft>
                <a:spcPts val="1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  Conclusion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Motivation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Interpretability Gap in Traffic Signal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Traffic congestion costs billions annually in fuel, time, and emissions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Reinforcement Learning with DNNs can reduce vehicle delay by up to 73%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However, DNNs are black boxes — decisions cannot be explained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Government agencies require interpretable, auditable controllers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Current RL approaches are impractical for real-world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097280"/>
            <a:ext cx="4846320" cy="210312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Core Research Question</a:t>
            </a:r>
            <a:br/>
            <a:br/>
            <a:r>
              <a:t>Can we design traffic signal controllers</a:t>
            </a:r>
            <a:br/>
            <a:r>
              <a:t>that are BOTH high-performing AND</a:t>
            </a:r>
            <a:br/>
            <a:r>
              <a:t>human-interpretable?</a:t>
            </a:r>
            <a:br/>
            <a:br/>
            <a:r>
              <a:t>Performance (DNN)  vs.  Interpretability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474720"/>
            <a:ext cx="4846320" cy="274320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D4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Why Interpretability is Non-Negotiable</a:t>
            </a:r>
            <a:br/>
            <a:br/>
            <a:r>
              <a:t>•  Liability: Who is responsible if an accident occurs?</a:t>
            </a:r>
            <a:br/>
            <a:r>
              <a:t>•  Regulation: Agencies must approve control logic</a:t>
            </a:r>
            <a:br/>
            <a:r>
              <a:t>•  Trust: Engineers need to understand &amp; tune the system</a:t>
            </a:r>
            <a:br/>
            <a:r>
              <a:t>•  Safety: Black-box failures can be catastrophic</a:t>
            </a:r>
            <a:br/>
            <a:br/>
            <a:r>
              <a:t>Traffic signals are safety-critical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Paper Objective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1B3A5C"/>
                </a:solidFill>
                <a:latin typeface="Calibri"/>
              </a:defRPr>
            </a:pPr>
            <a:r>
              <a:t>Objective: Design interpretable, regulatable control policies for traffic signals that match deep neural network performance while remaining fully human-understandable and tunable.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Six Key Contributions: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1.  Formally define a "regulatable" control function for signal control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2.  Compare regulatable functions against DNN-based policies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3.  Study three optimization methods: CMA-ES, PPO, Deep Q-Learning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4.  Develop three novel DQN variants using regulatable functions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 → DRQ, DRSQ, DRHQ (core technical contribution)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5.  Evaluate on simulations of real intersections with observed traffic demand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6.  Compare against deployed actuated controllers (practical baseline)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Concept: Regulatable Control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011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Formal Definition</a:t>
            </a:r>
            <a:br/>
            <a:br/>
            <a:r>
              <a:t>A precedence function g(s, Φ; θ) is regulatable</a:t>
            </a:r>
            <a:br/>
            <a:r>
              <a:t>if for every state variable s[i]:</a:t>
            </a:r>
            <a:br/>
            <a:br/>
            <a:r>
              <a:t>    ∂g/∂s[i]  ≥  0   for all states,   OR</a:t>
            </a:r>
            <a:br/>
            <a:r>
              <a:t>    ∂g/∂s[i]  ≤  0   for all states</a:t>
            </a:r>
            <a:br/>
            <a:br/>
            <a:r>
              <a:t>i.e., monotonic input-output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201168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D4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Practical Intuition</a:t>
            </a:r>
            <a:br/>
            <a:br/>
            <a:r>
              <a:t>"Green was given to Phase 4 BECAUSE</a:t>
            </a:r>
            <a:br/>
            <a:r>
              <a:t>stopped Southbound vehicles increased</a:t>
            </a:r>
            <a:br/>
            <a:r>
              <a:t>while Eastbound queue decreased."</a:t>
            </a:r>
            <a:br/>
            <a:br/>
            <a:r>
              <a:t>Every decision has a human-readable reason.</a:t>
            </a:r>
            <a:br/>
            <a:r>
              <a:t>Engineers can adjust individual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State Variables (per traffic phase):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1.  Stopped vehicles count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2.  Approaching vehicles count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3.  Cumulative stopped time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4.  Average stopped time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5.  Average queue length (stopped vehicles / lane count)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6.  Average approaching vehicle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Polynomial Precedence Function: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394960" cy="91440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1B3A5C"/>
                </a:solidFill>
                <a:latin typeface="Calibri"/>
              </a:defRPr>
            </a:pPr>
            <a:r>
              <a:t>g(s, Φ; θ') = Σφ∈Φ Σi=1..6  (wi · s[i])^pi   ×   Σj=1..4  (w'j · fj)^p'j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Weights (w) and exponents (p) per state variable per phase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For 8-phase intersection: 256 total tunable parameters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•  Proven regulatable via Lemma 1 (monotonic partial derivatives)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Algorithmic Approach: Three Deep Regulatable Q-Learning 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6400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1B3A5C"/>
                </a:solidFill>
                <a:latin typeface="Calibri"/>
              </a:defRPr>
            </a:pPr>
            <a:r>
              <a:t>Core Idea:  Train a powerful DQN (black-box) first, then train the interpretable function G to imitate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3291840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DRQ</a:t>
            </a:r>
            <a:br/>
            <a:r>
              <a:t>Deep Regulatable Q-Learning</a:t>
            </a:r>
            <a:br/>
            <a:br/>
            <a:r>
              <a:t>Goal: G(s,a) = Q(s,a)</a:t>
            </a:r>
            <a:br/>
            <a:r>
              <a:t>(Match exact Q-values)</a:t>
            </a:r>
            <a:br/>
            <a:br/>
            <a:r>
              <a:t>Loss: Squared error</a:t>
            </a:r>
            <a:br/>
            <a:r>
              <a:t>(y - G(s,a;θ))²</a:t>
            </a:r>
            <a:br/>
            <a:br/>
            <a:r>
              <a:t>Problem: Polynomial cannot</a:t>
            </a:r>
            <a:br/>
            <a:r>
              <a:t>replicate full DNN capacity</a:t>
            </a:r>
            <a:br/>
            <a:br/>
            <a:r>
              <a:t>Result: Worst performer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474720" cy="329184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D4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DRSQ</a:t>
            </a:r>
            <a:br/>
            <a:r>
              <a:t>Deep Regulatable Softmax Q</a:t>
            </a:r>
            <a:br/>
            <a:br/>
            <a:r>
              <a:t>Goal: G(s,·) ∝ Q(s,·)</a:t>
            </a:r>
            <a:br/>
            <a:r>
              <a:t>(Match relative ranking)</a:t>
            </a:r>
            <a:br/>
            <a:br/>
            <a:r>
              <a:t>Loss: Cross-entropy between</a:t>
            </a:r>
            <a:br/>
            <a:r>
              <a:t>softmax(Q) and softmax(G)</a:t>
            </a:r>
            <a:br/>
            <a:br/>
            <a:r>
              <a:t>Insight: Proportional</a:t>
            </a:r>
            <a:br/>
            <a:r>
              <a:t>equivalence is sufficient</a:t>
            </a:r>
            <a:br/>
            <a:br/>
            <a:r>
              <a:t>Result: Good performer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474720" cy="329184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3333"/>
                </a:solidFill>
                <a:latin typeface="Calibri"/>
              </a:defRPr>
            </a:pPr>
            <a:r>
              <a:t>DRHQ  (Best)</a:t>
            </a:r>
            <a:br/>
            <a:r>
              <a:t>Deep Regulatable Hardmax Q</a:t>
            </a:r>
            <a:br/>
            <a:br/>
            <a:r>
              <a:t>Goal: argmax G = argmax Q</a:t>
            </a:r>
            <a:br/>
            <a:r>
              <a:t>(Match only the winning action)</a:t>
            </a:r>
            <a:br/>
            <a:br/>
            <a:r>
              <a:t>Loss: Cross-entropy between</a:t>
            </a:r>
            <a:br/>
            <a:r>
              <a:t>one-hot(argmax Q) &amp; softmax(G)</a:t>
            </a:r>
            <a:br/>
            <a:br/>
            <a:r>
              <a:t>Insight: Maximum flexibility,</a:t>
            </a:r>
            <a:br/>
            <a:r>
              <a:t>only policy equivalence needed</a:t>
            </a:r>
            <a:br/>
            <a:br/>
            <a:r>
              <a:t>Result: Best performer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77840"/>
            <a:ext cx="11064240" cy="5486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B3A5C"/>
                </a:solidFill>
                <a:latin typeface="Calibri"/>
              </a:defRPr>
            </a:pPr>
            <a:r>
              <a:t>Progression:   Match exact values (hard)   →   Match rankings (easier)   →   Match winner only (easiest &amp; best)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Alternative Optimization Methods: CMA-ES &amp; PPO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CMA-ES (Covariance Matrix Adaptation Evolution Strategy)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Type: Evolutionary / black-box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Few hyperparameters; handles continuous ranges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Achieves near-DQN performance (validates function design)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Needs 24 episodes per parameter update (very slow)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Erratic exploration — unsafe during tuning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~4,000 episodes to stabilize (11 years of simulated traffic)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Impractical for online / real-world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PPO (Proximal Policy Optimization)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Type: Policy gradient method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Smooth, monotonic learning curves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Bounded gradient steps ensure safe exploration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Gets stuck in local optima (over-regularized)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Suboptimal final convergence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Cannot beat actuated control under high demand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Insufficient for this domain despite safety 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77840"/>
            <a:ext cx="11064240" cy="6400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B3A5C"/>
                </a:solidFill>
                <a:latin typeface="Calibri"/>
              </a:defRPr>
            </a:pPr>
            <a:r>
              <a:t>Conclusion: Neither CMA-ES nor PPO are suitable for practical deployment. The DQN-based variants (especially DRHQ) are the most effective approach.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Simulation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Simulator: SUMO (Simulation of Urban Mobility)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Real traffic data from Utah DOT (2,092 intersections)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Test site: State St &amp; E 4500 S, Murray, Utah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10 traffic phases, 11 non-conflicting phase pairs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&gt;50,000 vehicles/day, peak rate: 95 cars/min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352 tunable parameters for regulatable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Traffic Demand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212080" cy="50292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333333"/>
                </a:solidFill>
                <a:latin typeface="Calibri"/>
              </a:defRPr>
            </a:pPr>
            <a:r>
              <a:t>Low:      45,112 vehicles  |  1.04 v/sec  |  Wed May 1,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5212080" cy="50292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D4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333333"/>
                </a:solidFill>
                <a:latin typeface="Calibri"/>
              </a:defRPr>
            </a:pPr>
            <a:r>
              <a:t>Medium:  51,298 vehicles  |  1.19 v/sec  |  Mon May 6, 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212080" cy="502920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333333"/>
                </a:solidFill>
                <a:latin typeface="Calibri"/>
              </a:defRPr>
            </a:pPr>
            <a:r>
              <a:t>High:     61,261 vehicles  |  1.42 v/sec  |  Fri Jun 21,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DQN Hyperparameters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3 hidden layers, 64 units each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Replay buffer: 100,000 transitions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Minibatch size: 32  |  Optimizer: Adam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Epsilon-greedy: 0.05 → 0 after 20 episodes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Discount factor: 0.8 (low/med), 0.9 (high)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Baseline: Actuated Signal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SUMO’s actuated controller (used in real deployments)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Phases in fixed order (protected lefts → through traffic)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Maximum green time: 300 seconds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This is what real intersections use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Main Results: Average Vehicle Delay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029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Average Vehicle Delay (seconds)  —  Lower is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onsolas"/>
              </a:defRPr>
            </a:pPr>
            <a:r>
              <a:t>Method                         Low Demand        Medium Demand       High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51560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Actuated (Baseline)            ~60 sec            ~70 sec              ~95 sec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8775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CMA-ES                         ~50 sec            ~58 sec              ~85 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5351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onsolas"/>
              </a:defRPr>
            </a:pPr>
            <a:r>
              <a:t>PPO                            ~55 sec            ~65 sec              ~95 sec  (fails in high)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1927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onsolas"/>
              </a:defRPr>
            </a:pPr>
            <a:r>
              <a:t>DRQ                            Poor               Poor                 Poor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8503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DRSQ                           ~52 sec            ~62 sec              ~87 sec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5079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7A3E"/>
                </a:solidFill>
                <a:latin typeface="Consolas"/>
              </a:defRPr>
            </a:pPr>
            <a:r>
              <a:t>DRHQ  (Best Interpretable)     ~50 sec            ~60 sec              ~85 sec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16552"/>
            <a:ext cx="1051560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6CB3"/>
                </a:solidFill>
                <a:latin typeface="Consolas"/>
              </a:defRPr>
            </a:pPr>
            <a:r>
              <a:t>DQN   (Black-box Upper Bound)  ~48 sec            ~57 sec              ~82 sec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Key Finding:  DRHQ achieves up to 19.4% reduced vehicle delay compared to deployed actuated controllers,</a:t>
            </a:r>
            <a:br/>
            <a:r>
              <a:t>while remaining fully interpretable.  The gap vs. the black-box DQN is only 1–3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Interpretation of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Why DRHQ Works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Only needs to match which action wins, not exact Q-values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Gives maximum flexibility to the polynomial function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Hardmax formulation directly targets policy equivalence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Converges within a single episode for low/medium demand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"Less is more": easier target = better practical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Why Other Methods Fall 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DRQ: Cannot approximate the full Q-function surface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DRSQ: Softmax ranking harder to match than just the winner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PPO: Over-regularized, converges to local optima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CMA-ES: Requires thousands of episodes, unsafe exploration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Pure polynomial/Fourier: Cannot complete basic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64240" cy="14630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333333"/>
                </a:solidFill>
                <a:latin typeface="Calibri"/>
              </a:defRPr>
            </a:pPr>
            <a:r>
              <a:t>Critical Insight</a:t>
            </a:r>
            <a:br/>
            <a:br/>
            <a:r>
              <a:t>The performance gap between DRHQ (~50–85 sec) and the full black-box DQN (~48–82 sec) is only 1–3 seconds.</a:t>
            </a:r>
            <a:br/>
            <a:r>
              <a:t>This marginal cost buys complete interpretability — every decision can be explained, audited,</a:t>
            </a:r>
            <a:br/>
            <a:r>
              <a:t>and manually adjusted by traffic engineers.  For safety-critical infrastructure, this is an excellent trade-off.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Limitations of This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Single intersection only — transferability is unknown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All results are from simulation (SUMO), no real-world test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CMA-ES is impractical despite showing ceiling performance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PPO fails under high demand scenarios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No warm-starting from existing controllers explored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352 parameters still requires significant compute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Limited to one geographic region (Utah traffic data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7A3E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Warm-starting from currently deployed controller behavior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Multi-intersection coordination &amp; network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Real-world deployment and field testing validation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Transferability studies across intersection types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Incorporating pedestrian and cyclist signal phases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Adaptive parameter count based on intersection complexity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Integration with connected &amp; autonomous vehicle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1.   Interpretable polynomial policies CAN match DNN performance (gap ≤ 1–3 sec)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2.   DRHQ (Hardmax variant) achieves 19.4% delay reduction vs. actuated controllers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3.   "Regulatable" = monotonic input-output relationship = human-understandable decisions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4.   Policy gradient methods (PPO) are unsuitable for traffic signal optimization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5.   The paper bridges the gap between AI performance and real-world deployability</a:t>
            </a:r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6.   Interpretability is not a luxury — it is a requirement for safety-critical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1B3A5C"/>
                </a:solidFill>
                <a:latin typeface="Calibri"/>
              </a:defRPr>
            </a:pPr>
            <a:r>
              <a:t>"We can build AI systems that are both powerful and explainable.</a:t>
            </a:r>
            <a:br/>
            <a:r>
              <a:t>We do not always have to choose one over the other."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[1]  Ault, J., Hanna, J. P., &amp; Sharon, G. (2020). Learning an Interpretable Traffic Signal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Control Policy. arXiv preprint arXiv:1912.11023v2.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[2]  Mnih, V. et al. (2015). Human-level control through deep reinforcement learning.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Nature, 518(7540), 529–533.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[3]  Schulman, J. et al. (2017). Proximal Policy Optimization Algorithms.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arXiv preprint arXiv:1707.06347.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[4]  Hansen, N. (2006). The CMA Evolution Strategy: A Comparing Review.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Towards a New Evolutionary Computation, pp. 75–102.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[5]  Lopez, P.A. et al. (2018). Microscopic Traffic Simulation using SUMO.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IEEE ITSC 2018.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071003"/>
            <a:ext cx="12191695" cy="2560320"/>
          </a:xfrm>
          <a:prstGeom prst="rect">
            <a:avLst/>
          </a:prstGeom>
          <a:solidFill>
            <a:srgbClr val="1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11880"/>
            <a:ext cx="2103120" cy="27432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Paper: arXiv 1912.11023v2  |  Authors: Ault, Hanna, Sharon (2020)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rPr dirty="0"/>
              <a:t>Presented by: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1880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Naaz Verma</cp:lastModifiedBy>
  <cp:revision>2</cp:revision>
  <dcterms:created xsi:type="dcterms:W3CDTF">2013-01-27T09:14:16Z</dcterms:created>
  <dcterms:modified xsi:type="dcterms:W3CDTF">2026-04-07T07:36:55Z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2026-04-07T07:36:55Z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a120cd2c-b839-40a8-a3ea-f22d0aeeb20d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