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12192000"/>
  <p:notesSz cx="6858000" cy="9144000"/>
  <p:embeddedFontLst>
    <p:embeddedFont>
      <p:font typeface="Roboto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999F2AF-3BDF-4152-B1C2-7D869AADE37E}">
  <a:tblStyle styleId="{2999F2AF-3BDF-4152-B1C2-7D869AADE37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Roboto-regular.fntdata"/><Relationship Id="rId25" Type="http://schemas.openxmlformats.org/officeDocument/2006/relationships/slide" Target="slides/slide19.xml"/><Relationship Id="rId28" Type="http://schemas.openxmlformats.org/officeDocument/2006/relationships/font" Target="fonts/Roboto-italic.fntdata"/><Relationship Id="rId27" Type="http://schemas.openxmlformats.org/officeDocument/2006/relationships/font" Target="fonts/Roboto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Roboto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d71594ea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g3dd71594eaf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8718e49873_0_8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g38718e49873_0_88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de21afcf4e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g3de21afcf4e_0_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dd71594ea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g3dd71594eaf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d71594eaf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g3dd71594eaf_0_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e347bb480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g3de347bb480_1_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dd71594eaf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g3dd71594eaf_0_5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://drive.google.com/file/d/19sxDmoKmG837W8mvG0Tcmx5wuuUEKn_Q/view" TargetMode="External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1371600" y="548640"/>
            <a:ext cx="94182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Research Paper Review: </a:t>
            </a: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Learning an Interpretable</a:t>
            </a:r>
            <a:b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Traffic Signal Control Policy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5029200" y="2274569"/>
            <a:ext cx="2103000" cy="27300"/>
          </a:xfrm>
          <a:prstGeom prst="rect">
            <a:avLst/>
          </a:prstGeom>
          <a:solidFill>
            <a:srgbClr val="BBCCDD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2011680"/>
            <a:ext cx="9418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2602403"/>
            <a:ext cx="9418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888888"/>
                </a:solidFill>
              </a:rPr>
              <a:t> Paper By: </a:t>
            </a:r>
            <a:r>
              <a:rPr lang="en-US">
                <a:solidFill>
                  <a:srgbClr val="888888"/>
                </a:solidFill>
              </a:rPr>
              <a:t>James Ault | Josiah P. Hanna | Guni Sharon</a:t>
            </a:r>
            <a:endParaRPr>
              <a:solidFill>
                <a:srgbClr val="888888"/>
              </a:solidFill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1371600" y="3945948"/>
            <a:ext cx="9418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Presented by Group 161 : </a:t>
            </a:r>
            <a:endParaRPr/>
          </a:p>
        </p:txBody>
      </p:sp>
      <p:sp>
        <p:nvSpPr>
          <p:cNvPr id="90" name="Google Shape;90;p13"/>
          <p:cNvSpPr/>
          <p:nvPr/>
        </p:nvSpPr>
        <p:spPr>
          <a:xfrm>
            <a:off x="0" y="6622646"/>
            <a:ext cx="12191700" cy="273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1" name="Google Shape;91;p13"/>
          <p:cNvGraphicFramePr/>
          <p:nvPr/>
        </p:nvGraphicFramePr>
        <p:xfrm>
          <a:off x="3255663" y="447441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{2999F2AF-3BDF-4152-B1C2-7D869AADE37E}</a:tableStyleId>
              </a:tblPr>
              <a:tblGrid>
                <a:gridCol w="2954925"/>
                <a:gridCol w="26951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Devarshi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2025AE05592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Shantanu Pawar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2025AE05707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Rithu Jalgar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2025AE05933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Naman Dwivedi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2025AE05935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Naaz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2025AF05094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Presentation Outline </a:t>
            </a:r>
            <a:endParaRPr/>
          </a:p>
        </p:txBody>
      </p:sp>
      <p:sp>
        <p:nvSpPr>
          <p:cNvPr id="98" name="Google Shape;98;p14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1097280" y="1371600"/>
            <a:ext cx="7315200" cy="28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000"/>
              <a:buFont typeface="Calibri"/>
              <a:buAutoNum type="arabicPeriod"/>
            </a:pPr>
            <a:r>
              <a:rPr b="0" i="0" lang="en-US" sz="20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Motivation &amp; Objective of the Paper</a:t>
            </a:r>
            <a:endParaRPr b="0" i="0" sz="20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000"/>
              <a:buFont typeface="Calibri"/>
              <a:buAutoNum type="arabicPeriod"/>
            </a:pPr>
            <a:r>
              <a:rPr lang="en-US" sz="2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Paper Objective &amp; Contributions</a:t>
            </a:r>
            <a:endParaRPr sz="2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000"/>
              <a:buFont typeface="Calibri"/>
              <a:buAutoNum type="arabicPeriod"/>
            </a:pPr>
            <a:r>
              <a:rPr lang="en-US" sz="2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Traffic signal control as an MDP</a:t>
            </a:r>
            <a:endParaRPr sz="2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000"/>
              <a:buFont typeface="Calibri"/>
              <a:buAutoNum type="arabicPeriod"/>
            </a:pPr>
            <a:r>
              <a:rPr lang="en-US" sz="2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Experimental Setup</a:t>
            </a:r>
            <a:endParaRPr sz="2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000"/>
              <a:buFont typeface="Calibri"/>
              <a:buAutoNum type="arabicPeriod"/>
            </a:pPr>
            <a:r>
              <a:rPr lang="en-US" sz="2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Key Concept: Regulatable Control Function</a:t>
            </a:r>
            <a:endParaRPr sz="2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000"/>
              <a:buFont typeface="Calibri"/>
              <a:buAutoNum type="arabicPeriod"/>
            </a:pPr>
            <a:r>
              <a:rPr b="0" i="0" lang="en-US" sz="20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Key Techniques &amp; Algorithmic Approache</a:t>
            </a:r>
            <a:r>
              <a:rPr lang="en-US" sz="2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endParaRPr sz="2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000"/>
              <a:buFont typeface="Calibri"/>
              <a:buAutoNum type="arabicPeriod"/>
            </a:pPr>
            <a:r>
              <a:rPr b="0" i="0" lang="en-US" sz="20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Main Results &amp; Interpretation</a:t>
            </a:r>
            <a:endParaRPr/>
          </a:p>
          <a:p>
            <a:pPr indent="-3556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000"/>
              <a:buFont typeface="Calibri"/>
              <a:buAutoNum type="arabicPeriod"/>
            </a:pPr>
            <a:r>
              <a:rPr b="0" i="0" lang="en-US" sz="20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Limitations &amp; Future Scope</a:t>
            </a:r>
            <a:endParaRPr/>
          </a:p>
          <a:p>
            <a:pPr indent="-3556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000"/>
              <a:buFont typeface="Calibri"/>
              <a:buAutoNum type="arabicPeriod"/>
            </a:pPr>
            <a:r>
              <a:rPr b="0" i="0" lang="en-US" sz="20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Conclusion &amp; Key Takeaways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5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Motivation &amp; Problem Statement</a:t>
            </a:r>
            <a:endParaRPr/>
          </a:p>
        </p:txBody>
      </p:sp>
      <p:sp>
        <p:nvSpPr>
          <p:cNvPr id="106" name="Google Shape;106;p15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5"/>
          <p:cNvSpPr txBox="1"/>
          <p:nvPr/>
        </p:nvSpPr>
        <p:spPr>
          <a:xfrm>
            <a:off x="548640" y="1097280"/>
            <a:ext cx="5669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The Interpretability Gap in Traffic Signal Control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731525" y="1645923"/>
            <a:ext cx="5669400" cy="19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Traffic congestion costs billions annually in fuel, time, and emissions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Reinforcement Learning with DNNs can reduce vehicle delay by up to 73%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However, DNNs are black boxes — decisions cannot be explained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Government agencies require interpretable, auditable controllers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Current RL approaches are impractical for real-world deployment</a:t>
            </a:r>
            <a:endParaRPr/>
          </a:p>
        </p:txBody>
      </p:sp>
      <p:sp>
        <p:nvSpPr>
          <p:cNvPr id="109" name="Google Shape;109;p15"/>
          <p:cNvSpPr/>
          <p:nvPr/>
        </p:nvSpPr>
        <p:spPr>
          <a:xfrm>
            <a:off x="6766560" y="1097280"/>
            <a:ext cx="4846320" cy="210312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2B6CB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Core Research Question</a:t>
            </a: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Can we design traffic signal controllers</a:t>
            </a: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that are BOTH high-performing AND</a:t>
            </a: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human-interpretable?</a:t>
            </a: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Performance (DNN)  vs.  Interpretability</a:t>
            </a:r>
            <a:endParaRPr/>
          </a:p>
        </p:txBody>
      </p:sp>
      <p:sp>
        <p:nvSpPr>
          <p:cNvPr id="110" name="Google Shape;110;p15"/>
          <p:cNvSpPr/>
          <p:nvPr/>
        </p:nvSpPr>
        <p:spPr>
          <a:xfrm>
            <a:off x="6766560" y="3474720"/>
            <a:ext cx="4846320" cy="2743200"/>
          </a:xfrm>
          <a:prstGeom prst="roundRect">
            <a:avLst>
              <a:gd fmla="val 16667" name="adj"/>
            </a:avLst>
          </a:prstGeom>
          <a:solidFill>
            <a:srgbClr val="FDF0E0"/>
          </a:solidFill>
          <a:ln cap="flat" cmpd="sng" w="12700">
            <a:solidFill>
              <a:srgbClr val="D4A06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Why Interpretability is Non-Negotiable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Liability: Who is responsible if an accident occurs?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Regulation: Agencies must approve control logic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Trust: Engineers need to understand &amp; tune the system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Safety: Black-box failures can be catastrophic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Traffic signals are safety-critical infrastructure.</a:t>
            </a:r>
            <a:endParaRPr/>
          </a:p>
        </p:txBody>
      </p:sp>
      <p:pic>
        <p:nvPicPr>
          <p:cNvPr id="111" name="Google Shape;111;p15" title="Screencast from 2026-04-08 23-20-37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38975" y="3728173"/>
            <a:ext cx="3888636" cy="29164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6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6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Paper Objective &amp; Contributions</a:t>
            </a: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/>
          <p:nvPr/>
        </p:nvSpPr>
        <p:spPr>
          <a:xfrm>
            <a:off x="548640" y="1188720"/>
            <a:ext cx="11064240" cy="91440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Objective: Design interpretable, regulatable control policies for traffic signals that match deep neural network performance while remaining fully human-understandable and tunable.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548640" y="23774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Six Key Contributions: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731520" y="2926080"/>
            <a:ext cx="105156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Formally define a "regulatable" control function for signal control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Compare regulatable functions against DNN-based policies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Study three optimization methods: CMA-ES, PPO, Deep Q-Learning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Develop three novel DQN variants using regulatable functions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  → DRQ, DRSQ, DRHQ (core technical contribution)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Evaluate on simulations of real intersections with observed traffic demand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Compare against deployed actuated controllers (practical baseline)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7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Traffic signal control as an MDP ( 1 / 2 )</a:t>
            </a:r>
            <a:endParaRPr/>
          </a:p>
        </p:txBody>
      </p:sp>
      <p:sp>
        <p:nvSpPr>
          <p:cNvPr id="128" name="Google Shape;128;p17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9" name="Google Shape;129;p17"/>
          <p:cNvGrpSpPr/>
          <p:nvPr/>
        </p:nvGrpSpPr>
        <p:grpSpPr>
          <a:xfrm>
            <a:off x="548650" y="1343050"/>
            <a:ext cx="6170700" cy="4721700"/>
            <a:chOff x="548650" y="1343050"/>
            <a:chExt cx="6170700" cy="4721700"/>
          </a:xfrm>
        </p:grpSpPr>
        <p:sp>
          <p:nvSpPr>
            <p:cNvPr id="130" name="Google Shape;130;p17"/>
            <p:cNvSpPr txBox="1"/>
            <p:nvPr/>
          </p:nvSpPr>
          <p:spPr>
            <a:xfrm>
              <a:off x="548650" y="1343050"/>
              <a:ext cx="6170700" cy="472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State     :</a:t>
              </a:r>
              <a:endParaRPr b="1" sz="1500">
                <a:solidFill>
                  <a:schemeClr val="dk1"/>
                </a:solidFill>
              </a:endParaRPr>
            </a:p>
            <a:p>
              <a:pPr indent="-3238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Clr>
                  <a:schemeClr val="dk1"/>
                </a:buClr>
                <a:buSzPts val="1500"/>
                <a:buChar char="●"/>
              </a:pPr>
              <a:r>
                <a:rPr lang="en-US" sz="1500">
                  <a:solidFill>
                    <a:schemeClr val="dk1"/>
                  </a:solidFill>
                </a:rPr>
                <a:t>current signal assignment</a:t>
              </a:r>
              <a:endParaRPr sz="1500">
                <a:solidFill>
                  <a:schemeClr val="dk1"/>
                </a:solidFill>
              </a:endParaRPr>
            </a:p>
            <a:p>
              <a:pPr indent="-3238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500"/>
                <a:buChar char="●"/>
              </a:pPr>
              <a:r>
                <a:rPr lang="en-US" sz="1500">
                  <a:solidFill>
                    <a:schemeClr val="dk1"/>
                  </a:solidFill>
                </a:rPr>
                <a:t>lane/phase traffic variables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Action      :</a:t>
              </a:r>
              <a:endParaRPr b="1" sz="1500">
                <a:solidFill>
                  <a:schemeClr val="dk1"/>
                </a:solidFill>
              </a:endParaRPr>
            </a:p>
            <a:p>
              <a:pPr indent="-3238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Clr>
                  <a:schemeClr val="dk1"/>
                </a:buClr>
                <a:buSzPts val="1500"/>
                <a:buChar char="●"/>
              </a:pPr>
              <a:r>
                <a:rPr lang="en-US" sz="1500">
                  <a:solidFill>
                    <a:schemeClr val="dk1"/>
                  </a:solidFill>
                </a:rPr>
                <a:t>choose legal non-conflicting phase set Φ</a:t>
              </a:r>
              <a:endParaRPr sz="1500">
                <a:solidFill>
                  <a:schemeClr val="dk1"/>
                </a:solidFill>
              </a:endParaRPr>
            </a:p>
            <a:p>
              <a:pPr indent="-32385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500"/>
                <a:buChar char="●"/>
              </a:pPr>
              <a:r>
                <a:rPr lang="en-US" sz="1500">
                  <a:solidFill>
                    <a:schemeClr val="dk1"/>
                  </a:solidFill>
                </a:rPr>
                <a:t>policy output π(s;θ)→(Φg,Φy,Φr) (assign green, yellow, red)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Reward </a:t>
              </a:r>
              <a:r>
                <a:rPr lang="en-US" sz="1500">
                  <a:solidFill>
                    <a:schemeClr val="dk1"/>
                  </a:solidFill>
                </a:rPr>
                <a:t>rt</a:t>
              </a:r>
              <a:r>
                <a:rPr b="1" lang="en-US" sz="1500">
                  <a:solidFill>
                    <a:schemeClr val="dk1"/>
                  </a:solidFill>
                </a:rPr>
                <a:t>:</a:t>
              </a:r>
              <a:endParaRPr b="1" sz="1500">
                <a:solidFill>
                  <a:schemeClr val="dk1"/>
                </a:solidFill>
              </a:endParaRPr>
            </a:p>
            <a:p>
              <a:pPr indent="-3238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Clr>
                  <a:schemeClr val="dk1"/>
                </a:buClr>
                <a:buSzPts val="1500"/>
                <a:buChar char="●"/>
              </a:pPr>
              <a:r>
                <a:rPr lang="en-US" sz="1500">
                  <a:solidFill>
                    <a:schemeClr val="dk1"/>
                  </a:solidFill>
                </a:rPr>
                <a:t>reduction in accumulated traffic delay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Transition:</a:t>
              </a:r>
              <a:endParaRPr b="1" sz="1500">
                <a:solidFill>
                  <a:schemeClr val="dk1"/>
                </a:solidFill>
              </a:endParaRPr>
            </a:p>
            <a:p>
              <a:pPr indent="-3238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Clr>
                  <a:schemeClr val="dk1"/>
                </a:buClr>
                <a:buSzPts val="1500"/>
                <a:buChar char="●"/>
              </a:pPr>
              <a:r>
                <a:rPr lang="en-US" sz="1500">
                  <a:solidFill>
                    <a:schemeClr val="dk1"/>
                  </a:solidFill>
                </a:rPr>
                <a:t>                             </a:t>
              </a:r>
              <a:r>
                <a:rPr lang="en-US" sz="1500">
                  <a:solidFill>
                    <a:schemeClr val="dk1"/>
                  </a:solidFill>
                </a:rPr>
                <a:t>from traffic demand + intersection dynamics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Decision score:</a:t>
              </a:r>
              <a:endParaRPr b="1" sz="1500">
                <a:solidFill>
                  <a:schemeClr val="dk1"/>
                </a:solidFill>
              </a:endParaRPr>
            </a:p>
            <a:p>
              <a:pPr indent="-323850" lvl="0" marL="45720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Clr>
                  <a:schemeClr val="dk1"/>
                </a:buClr>
                <a:buSzPts val="1500"/>
                <a:buChar char="●"/>
              </a:pPr>
              <a:r>
                <a:rPr lang="en-US" sz="1500">
                  <a:solidFill>
                    <a:schemeClr val="dk1"/>
                  </a:solidFill>
                </a:rPr>
                <a:t>g(s,Φ;θ′), choose arg⁡max⁡Φg(s,Φ;θ′)</a:t>
              </a:r>
              <a:endParaRPr sz="1500">
                <a:solidFill>
                  <a:schemeClr val="dk1"/>
                </a:solidFill>
              </a:endParaRPr>
            </a:p>
          </p:txBody>
        </p:sp>
        <p:pic>
          <p:nvPicPr>
            <p:cNvPr descr="{&quot;aid&quot;:null,&quot;id&quot;:&quot;1&quot;,&quot;backgroundColorModified&quot;:false,&quot;type&quot;:&quot;$$&quot;,&quot;code&quot;:&quot;$$s_{t}$$&quot;,&quot;backgroundColor&quot;:&quot;#FBFBFB&quot;,&quot;font&quot;:{&quot;color&quot;:&quot;#000000&quot;,&quot;family&quot;:&quot;Arial&quot;,&quot;size&quot;:10.5},&quot;ts&quot;:1775664473530,&quot;cs&quot;:&quot;MTZRas2/AyjUblTTuetZgQ==&quot;,&quot;size&quot;:{&quot;width&quot;:12,&quot;height&quot;:10.333333333333334}}" id="131" name="Google Shape;131;p1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96600" y="1508450"/>
              <a:ext cx="168725" cy="1453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{&quot;backgroundColor&quot;:&quot;#FBFBFB&quot;,&quot;font&quot;:{&quot;color&quot;:&quot;#000000&quot;,&quot;family&quot;:&quot;Arial&quot;,&quot;size&quot;:11},&quot;aid&quot;:null,&quot;code&quot;:&quot;$$s_{\\phi  }[1..6]\n$$&quot;,&quot;id&quot;:&quot;2&quot;,&quot;type&quot;:&quot;$$&quot;,&quot;backgroundColorModified&quot;:false,&quot;ts&quot;:1775664639227,&quot;cs&quot;:&quot;1Ge+abqucKHo9wPcZMFAdA==&quot;,&quot;size&quot;:{&quot;width&quot;:50.166666666666664,&quot;height&quot;:18.166666666666668}}" id="132" name="Google Shape;132;p1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342025" y="1856575"/>
              <a:ext cx="647600" cy="2345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{&quot;aid&quot;:null,&quot;id&quot;:&quot;3&quot;,&quot;backgroundColorModified&quot;:false,&quot;type&quot;:&quot;$$&quot;,&quot;font&quot;:{&quot;size&quot;:11,&quot;family&quot;:&quot;Arial&quot;,&quot;color&quot;:&quot;#000000&quot;},&quot;code&quot;:&quot;$$a_{t}$$&quot;,&quot;backgroundColor&quot;:&quot;#FBFBFB&quot;,&quot;ts&quot;:1775664693415,&quot;cs&quot;:&quot;O/KGFJU6d8Cnnp9VmAoDWw==&quot;,&quot;size&quot;:{&quot;width&quot;:13.333333333333334,&quot;height&quot;:10.333333333333334}}" id="133" name="Google Shape;133;p1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330025" y="2573100"/>
              <a:ext cx="213032" cy="165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{&quot;backgroundColor&quot;:&quot;#FBFBFB&quot;,&quot;code&quot;:&quot;$$P\\left(s_{t}\\,\\,,\\,a_{t}\\,,\\,s_{t+1}\\right)\\,$$&quot;,&quot;id&quot;:&quot;4&quot;,&quot;font&quot;:{&quot;family&quot;:&quot;Arial&quot;,&quot;color&quot;:&quot;#000000&quot;,&quot;size&quot;:11},&quot;backgroundColorModified&quot;:false,&quot;type&quot;:&quot;$$&quot;,&quot;aid&quot;:null,&quot;ts&quot;:1775664857390,&quot;cs&quot;:&quot;X41y0YOZwQtTBWRt1v8qtQ==&quot;,&quot;size&quot;:{&quot;width&quot;:115,&quot;height&quot;:17.333333333333332}}" id="134" name="Google Shape;134;p1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196600" y="4861825"/>
              <a:ext cx="1357451" cy="204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5" name="Google Shape;135;p17"/>
          <p:cNvGrpSpPr/>
          <p:nvPr/>
        </p:nvGrpSpPr>
        <p:grpSpPr>
          <a:xfrm>
            <a:off x="8183175" y="1610663"/>
            <a:ext cx="3108397" cy="2008749"/>
            <a:chOff x="2734172" y="3367177"/>
            <a:chExt cx="1332303" cy="1506599"/>
          </a:xfrm>
        </p:grpSpPr>
        <p:sp>
          <p:nvSpPr>
            <p:cNvPr id="136" name="Google Shape;136;p17"/>
            <p:cNvSpPr/>
            <p:nvPr/>
          </p:nvSpPr>
          <p:spPr>
            <a:xfrm>
              <a:off x="2734172" y="3652177"/>
              <a:ext cx="1332300" cy="1221600"/>
            </a:xfrm>
            <a:prstGeom prst="rect">
              <a:avLst/>
            </a:prstGeom>
            <a:solidFill>
              <a:srgbClr val="E8F5EB"/>
            </a:solidFill>
            <a:ln>
              <a:noFill/>
            </a:ln>
          </p:spPr>
          <p:txBody>
            <a:bodyPr anchorCtr="0" anchor="t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sφ[1]</a:t>
              </a:r>
              <a:r>
                <a:rPr lang="en-US" sz="1500">
                  <a:solidFill>
                    <a:schemeClr val="dk1"/>
                  </a:solidFill>
                </a:rPr>
                <a:t>: stopped vehicles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sφ[2]</a:t>
              </a:r>
              <a:r>
                <a:rPr lang="en-US" sz="1500">
                  <a:solidFill>
                    <a:schemeClr val="dk1"/>
                  </a:solidFill>
                </a:rPr>
                <a:t>: approaching vehicles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sφ[3]</a:t>
              </a:r>
              <a:r>
                <a:rPr lang="en-US" sz="1500">
                  <a:solidFill>
                    <a:schemeClr val="dk1"/>
                  </a:solidFill>
                </a:rPr>
                <a:t>: cumulative stopped time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sφ[4]</a:t>
              </a:r>
              <a:r>
                <a:rPr lang="en-US" sz="1500">
                  <a:solidFill>
                    <a:schemeClr val="dk1"/>
                  </a:solidFill>
                </a:rPr>
                <a:t>: average stopped time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sφ[5]</a:t>
              </a:r>
              <a:r>
                <a:rPr lang="en-US" sz="1500">
                  <a:solidFill>
                    <a:schemeClr val="dk1"/>
                  </a:solidFill>
                </a:rPr>
                <a:t>: average queue length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sφ[6]</a:t>
              </a:r>
              <a:r>
                <a:rPr lang="en-US" sz="1500">
                  <a:solidFill>
                    <a:schemeClr val="dk1"/>
                  </a:solidFill>
                </a:rPr>
                <a:t>: average approach speed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7" name="Google Shape;137;p17"/>
            <p:cNvSpPr/>
            <p:nvPr/>
          </p:nvSpPr>
          <p:spPr>
            <a:xfrm>
              <a:off x="2734175" y="3367177"/>
              <a:ext cx="1332300" cy="285000"/>
            </a:xfrm>
            <a:prstGeom prst="round1Rect">
              <a:avLst>
                <a:gd fmla="val 50000" name="adj"/>
              </a:avLst>
            </a:prstGeom>
            <a:solidFill>
              <a:srgbClr val="08563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Environment State</a:t>
              </a:r>
              <a:endParaRPr sz="1600">
                <a:solidFill>
                  <a:srgbClr val="FFFFFF"/>
                </a:solidFill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8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Traffic signal control as an MDP ( 2 / 2 )</a:t>
            </a:r>
            <a:endParaRPr/>
          </a:p>
        </p:txBody>
      </p:sp>
      <p:sp>
        <p:nvSpPr>
          <p:cNvPr id="144" name="Google Shape;144;p18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5" name="Google Shape;145;p18"/>
          <p:cNvGrpSpPr/>
          <p:nvPr/>
        </p:nvGrpSpPr>
        <p:grpSpPr>
          <a:xfrm>
            <a:off x="5146867" y="4701967"/>
            <a:ext cx="1776357" cy="903169"/>
            <a:chOff x="3798075" y="775532"/>
            <a:chExt cx="1332301" cy="677394"/>
          </a:xfrm>
        </p:grpSpPr>
        <p:sp>
          <p:nvSpPr>
            <p:cNvPr id="146" name="Google Shape;146;p18"/>
            <p:cNvSpPr/>
            <p:nvPr/>
          </p:nvSpPr>
          <p:spPr>
            <a:xfrm>
              <a:off x="3798076" y="1060526"/>
              <a:ext cx="1332300" cy="392400"/>
            </a:xfrm>
            <a:prstGeom prst="rect">
              <a:avLst/>
            </a:prstGeom>
            <a:solidFill>
              <a:srgbClr val="E8F5EB"/>
            </a:solidFill>
            <a:ln>
              <a:noFill/>
            </a:ln>
          </p:spPr>
          <p:txBody>
            <a:bodyPr anchorCtr="0" anchor="t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chemeClr val="dk1"/>
                  </a:solidFill>
                </a:rPr>
                <a:t>π(s; θ)  </a:t>
              </a:r>
              <a:endParaRPr sz="16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" name="Google Shape;147;p18"/>
            <p:cNvSpPr/>
            <p:nvPr/>
          </p:nvSpPr>
          <p:spPr>
            <a:xfrm>
              <a:off x="3798075" y="775532"/>
              <a:ext cx="1332300" cy="285000"/>
            </a:xfrm>
            <a:prstGeom prst="round1Rect">
              <a:avLst>
                <a:gd fmla="val 50000" name="adj"/>
              </a:avLst>
            </a:prstGeom>
            <a:solidFill>
              <a:srgbClr val="08563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Agent</a:t>
              </a:r>
              <a:endParaRPr sz="1600">
                <a:solidFill>
                  <a:srgbClr val="FFFFFF"/>
                </a:solidFill>
              </a:endParaRPr>
            </a:p>
          </p:txBody>
        </p:sp>
      </p:grpSp>
      <p:grpSp>
        <p:nvGrpSpPr>
          <p:cNvPr id="148" name="Google Shape;148;p18"/>
          <p:cNvGrpSpPr/>
          <p:nvPr/>
        </p:nvGrpSpPr>
        <p:grpSpPr>
          <a:xfrm>
            <a:off x="7359720" y="3038976"/>
            <a:ext cx="1776356" cy="1219570"/>
            <a:chOff x="2389575" y="2071477"/>
            <a:chExt cx="1332300" cy="914700"/>
          </a:xfrm>
        </p:grpSpPr>
        <p:sp>
          <p:nvSpPr>
            <p:cNvPr id="149" name="Google Shape;149;p18"/>
            <p:cNvSpPr/>
            <p:nvPr/>
          </p:nvSpPr>
          <p:spPr>
            <a:xfrm>
              <a:off x="2389575" y="2356477"/>
              <a:ext cx="1332300" cy="629700"/>
            </a:xfrm>
            <a:prstGeom prst="rect">
              <a:avLst/>
            </a:prstGeom>
            <a:solidFill>
              <a:srgbClr val="CCDDEE"/>
            </a:solidFill>
            <a:ln>
              <a:noFill/>
            </a:ln>
          </p:spPr>
          <p:txBody>
            <a:bodyPr anchorCtr="0" anchor="t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5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St+1</a:t>
              </a:r>
              <a:endParaRPr sz="1500">
                <a:solidFill>
                  <a:schemeClr val="dk1"/>
                </a:solidFill>
              </a:endParaRPr>
            </a:p>
          </p:txBody>
        </p:sp>
        <p:sp>
          <p:nvSpPr>
            <p:cNvPr id="150" name="Google Shape;150;p18"/>
            <p:cNvSpPr/>
            <p:nvPr/>
          </p:nvSpPr>
          <p:spPr>
            <a:xfrm>
              <a:off x="2389575" y="2071477"/>
              <a:ext cx="1332300" cy="285000"/>
            </a:xfrm>
            <a:prstGeom prst="round1Rect">
              <a:avLst>
                <a:gd fmla="val 50000" name="adj"/>
              </a:avLst>
            </a:prstGeom>
            <a:solidFill>
              <a:srgbClr val="2B6CB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Next State </a:t>
              </a:r>
              <a:endParaRPr sz="1600">
                <a:solidFill>
                  <a:srgbClr val="FFFFFF"/>
                </a:solidFill>
              </a:endParaRPr>
            </a:p>
          </p:txBody>
        </p:sp>
      </p:grpSp>
      <p:grpSp>
        <p:nvGrpSpPr>
          <p:cNvPr id="151" name="Google Shape;151;p18"/>
          <p:cNvGrpSpPr/>
          <p:nvPr/>
        </p:nvGrpSpPr>
        <p:grpSpPr>
          <a:xfrm>
            <a:off x="9529117" y="3039141"/>
            <a:ext cx="1776356" cy="1219236"/>
            <a:chOff x="4731075" y="3367427"/>
            <a:chExt cx="1332300" cy="914450"/>
          </a:xfrm>
        </p:grpSpPr>
        <p:sp>
          <p:nvSpPr>
            <p:cNvPr id="152" name="Google Shape;152;p18"/>
            <p:cNvSpPr/>
            <p:nvPr/>
          </p:nvSpPr>
          <p:spPr>
            <a:xfrm>
              <a:off x="4731075" y="3652177"/>
              <a:ext cx="1332300" cy="629700"/>
            </a:xfrm>
            <a:prstGeom prst="rect">
              <a:avLst/>
            </a:prstGeom>
            <a:solidFill>
              <a:srgbClr val="CCDDEE"/>
            </a:solidFill>
            <a:ln>
              <a:noFill/>
            </a:ln>
          </p:spPr>
          <p:txBody>
            <a:bodyPr anchorCtr="0" anchor="t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chemeClr val="dk1"/>
                  </a:solidFill>
                </a:rPr>
                <a:t>Rt</a:t>
              </a:r>
              <a:endParaRPr sz="1500">
                <a:solidFill>
                  <a:schemeClr val="dk1"/>
                </a:solidFill>
              </a:endParaRPr>
            </a:p>
          </p:txBody>
        </p:sp>
        <p:sp>
          <p:nvSpPr>
            <p:cNvPr id="153" name="Google Shape;153;p18"/>
            <p:cNvSpPr/>
            <p:nvPr/>
          </p:nvSpPr>
          <p:spPr>
            <a:xfrm>
              <a:off x="4731075" y="3367427"/>
              <a:ext cx="1332300" cy="285000"/>
            </a:xfrm>
            <a:prstGeom prst="round1Rect">
              <a:avLst>
                <a:gd fmla="val 50000" name="adj"/>
              </a:avLst>
            </a:prstGeom>
            <a:solidFill>
              <a:srgbClr val="2B6CB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Reward</a:t>
              </a:r>
              <a:endParaRPr sz="1600">
                <a:solidFill>
                  <a:srgbClr val="FFFFFF"/>
                </a:solidFill>
              </a:endParaRPr>
            </a:p>
          </p:txBody>
        </p:sp>
      </p:grpSp>
      <p:grpSp>
        <p:nvGrpSpPr>
          <p:cNvPr id="154" name="Google Shape;154;p18"/>
          <p:cNvGrpSpPr/>
          <p:nvPr/>
        </p:nvGrpSpPr>
        <p:grpSpPr>
          <a:xfrm>
            <a:off x="5207826" y="1614633"/>
            <a:ext cx="1776356" cy="1219570"/>
            <a:chOff x="2734175" y="3367177"/>
            <a:chExt cx="1332300" cy="914700"/>
          </a:xfrm>
        </p:grpSpPr>
        <p:sp>
          <p:nvSpPr>
            <p:cNvPr id="155" name="Google Shape;155;p18"/>
            <p:cNvSpPr/>
            <p:nvPr/>
          </p:nvSpPr>
          <p:spPr>
            <a:xfrm>
              <a:off x="2734175" y="3652177"/>
              <a:ext cx="1332300" cy="629700"/>
            </a:xfrm>
            <a:prstGeom prst="rect">
              <a:avLst/>
            </a:prstGeom>
            <a:solidFill>
              <a:srgbClr val="E8F5EB"/>
            </a:solidFill>
            <a:ln>
              <a:noFill/>
            </a:ln>
          </p:spPr>
          <p:txBody>
            <a:bodyPr anchorCtr="0" anchor="t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Environment State</a:t>
              </a:r>
              <a:endParaRPr sz="1500">
                <a:solidFill>
                  <a:schemeClr val="dk1"/>
                </a:solidFill>
              </a:endParaRPr>
            </a:p>
          </p:txBody>
        </p:sp>
        <p:sp>
          <p:nvSpPr>
            <p:cNvPr id="156" name="Google Shape;156;p18"/>
            <p:cNvSpPr/>
            <p:nvPr/>
          </p:nvSpPr>
          <p:spPr>
            <a:xfrm>
              <a:off x="2734175" y="3367177"/>
              <a:ext cx="1332300" cy="285000"/>
            </a:xfrm>
            <a:prstGeom prst="round1Rect">
              <a:avLst>
                <a:gd fmla="val 50000" name="adj"/>
              </a:avLst>
            </a:prstGeom>
            <a:solidFill>
              <a:srgbClr val="08563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Environment</a:t>
              </a:r>
              <a:endParaRPr sz="1600">
                <a:solidFill>
                  <a:srgbClr val="FFFFFF"/>
                </a:solidFill>
              </a:endParaRPr>
            </a:p>
          </p:txBody>
        </p:sp>
      </p:grpSp>
      <p:grpSp>
        <p:nvGrpSpPr>
          <p:cNvPr id="157" name="Google Shape;157;p18"/>
          <p:cNvGrpSpPr/>
          <p:nvPr/>
        </p:nvGrpSpPr>
        <p:grpSpPr>
          <a:xfrm>
            <a:off x="3683815" y="3158301"/>
            <a:ext cx="1776356" cy="1219570"/>
            <a:chOff x="5206575" y="2071477"/>
            <a:chExt cx="1332300" cy="914700"/>
          </a:xfrm>
        </p:grpSpPr>
        <p:sp>
          <p:nvSpPr>
            <p:cNvPr id="158" name="Google Shape;158;p18"/>
            <p:cNvSpPr/>
            <p:nvPr/>
          </p:nvSpPr>
          <p:spPr>
            <a:xfrm>
              <a:off x="5206575" y="2356477"/>
              <a:ext cx="1332300" cy="629700"/>
            </a:xfrm>
            <a:prstGeom prst="rect">
              <a:avLst/>
            </a:prstGeom>
            <a:solidFill>
              <a:srgbClr val="CCDDEE"/>
            </a:solidFill>
            <a:ln>
              <a:noFill/>
            </a:ln>
          </p:spPr>
          <p:txBody>
            <a:bodyPr anchorCtr="0" anchor="t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at = argmaxΦ g(s,Φ;θ′)</a:t>
              </a:r>
              <a:endParaRPr sz="2400">
                <a:solidFill>
                  <a:schemeClr val="dk1"/>
                </a:solidFill>
              </a:endParaRPr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5206575" y="2071477"/>
              <a:ext cx="1332300" cy="285000"/>
            </a:xfrm>
            <a:prstGeom prst="round1Rect">
              <a:avLst>
                <a:gd fmla="val 50000" name="adj"/>
              </a:avLst>
            </a:prstGeom>
            <a:solidFill>
              <a:srgbClr val="2B6CB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Action</a:t>
              </a:r>
              <a:endParaRPr sz="1600">
                <a:solidFill>
                  <a:srgbClr val="FFFFFF"/>
                </a:solidFill>
              </a:endParaRPr>
            </a:p>
          </p:txBody>
        </p:sp>
      </p:grpSp>
      <p:cxnSp>
        <p:nvCxnSpPr>
          <p:cNvPr id="160" name="Google Shape;160;p18"/>
          <p:cNvCxnSpPr>
            <a:stCxn id="147" idx="1"/>
            <a:endCxn id="158" idx="2"/>
          </p:cNvCxnSpPr>
          <p:nvPr/>
        </p:nvCxnSpPr>
        <p:spPr>
          <a:xfrm rot="10800000">
            <a:off x="4572067" y="4377762"/>
            <a:ext cx="574800" cy="514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1" name="Google Shape;161;p18"/>
          <p:cNvCxnSpPr>
            <a:stCxn id="159" idx="0"/>
            <a:endCxn id="155" idx="1"/>
          </p:cNvCxnSpPr>
          <p:nvPr/>
        </p:nvCxnSpPr>
        <p:spPr>
          <a:xfrm flipH="1" rot="10800000">
            <a:off x="4571993" y="2414301"/>
            <a:ext cx="635700" cy="7440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2" name="Google Shape;162;p18"/>
          <p:cNvCxnSpPr>
            <a:stCxn id="155" idx="3"/>
            <a:endCxn id="150" idx="0"/>
          </p:cNvCxnSpPr>
          <p:nvPr/>
        </p:nvCxnSpPr>
        <p:spPr>
          <a:xfrm>
            <a:off x="6984181" y="2414413"/>
            <a:ext cx="1263600" cy="6246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3" name="Google Shape;163;p18"/>
          <p:cNvCxnSpPr>
            <a:endCxn id="153" idx="0"/>
          </p:cNvCxnSpPr>
          <p:nvPr/>
        </p:nvCxnSpPr>
        <p:spPr>
          <a:xfrm>
            <a:off x="6961895" y="2372541"/>
            <a:ext cx="3455400" cy="6666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4" name="Google Shape;164;p18"/>
          <p:cNvCxnSpPr>
            <a:endCxn id="146" idx="3"/>
          </p:cNvCxnSpPr>
          <p:nvPr/>
        </p:nvCxnSpPr>
        <p:spPr>
          <a:xfrm flipH="1">
            <a:off x="6923224" y="4277642"/>
            <a:ext cx="1337700" cy="10659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5" name="Google Shape;165;p18"/>
          <p:cNvCxnSpPr>
            <a:endCxn id="146" idx="3"/>
          </p:cNvCxnSpPr>
          <p:nvPr/>
        </p:nvCxnSpPr>
        <p:spPr>
          <a:xfrm flipH="1">
            <a:off x="6923224" y="4295042"/>
            <a:ext cx="3467700" cy="10485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grpSp>
        <p:nvGrpSpPr>
          <p:cNvPr id="166" name="Google Shape;166;p18"/>
          <p:cNvGrpSpPr/>
          <p:nvPr/>
        </p:nvGrpSpPr>
        <p:grpSpPr>
          <a:xfrm>
            <a:off x="410800" y="2965963"/>
            <a:ext cx="3108397" cy="2008749"/>
            <a:chOff x="2734172" y="3367177"/>
            <a:chExt cx="1332303" cy="1506599"/>
          </a:xfrm>
        </p:grpSpPr>
        <p:sp>
          <p:nvSpPr>
            <p:cNvPr id="167" name="Google Shape;167;p18"/>
            <p:cNvSpPr/>
            <p:nvPr/>
          </p:nvSpPr>
          <p:spPr>
            <a:xfrm>
              <a:off x="2734172" y="3652177"/>
              <a:ext cx="1332300" cy="1221600"/>
            </a:xfrm>
            <a:prstGeom prst="rect">
              <a:avLst/>
            </a:prstGeom>
            <a:solidFill>
              <a:srgbClr val="E8F5EB"/>
            </a:solidFill>
            <a:ln>
              <a:noFill/>
            </a:ln>
          </p:spPr>
          <p:txBody>
            <a:bodyPr anchorCtr="0" anchor="t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sφ[1]</a:t>
              </a:r>
              <a:r>
                <a:rPr lang="en-US" sz="1500">
                  <a:solidFill>
                    <a:schemeClr val="dk1"/>
                  </a:solidFill>
                </a:rPr>
                <a:t>: stopped vehicles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sφ[2]</a:t>
              </a:r>
              <a:r>
                <a:rPr lang="en-US" sz="1500">
                  <a:solidFill>
                    <a:schemeClr val="dk1"/>
                  </a:solidFill>
                </a:rPr>
                <a:t>: approaching vehicles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sφ[3]</a:t>
              </a:r>
              <a:r>
                <a:rPr lang="en-US" sz="1500">
                  <a:solidFill>
                    <a:schemeClr val="dk1"/>
                  </a:solidFill>
                </a:rPr>
                <a:t>: cumulative stopped time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sφ[4]</a:t>
              </a:r>
              <a:r>
                <a:rPr lang="en-US" sz="1500">
                  <a:solidFill>
                    <a:schemeClr val="dk1"/>
                  </a:solidFill>
                </a:rPr>
                <a:t>: average stopped time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sφ[5]</a:t>
              </a:r>
              <a:r>
                <a:rPr lang="en-US" sz="1500">
                  <a:solidFill>
                    <a:schemeClr val="dk1"/>
                  </a:solidFill>
                </a:rPr>
                <a:t>: average queue length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chemeClr val="dk1"/>
                  </a:solidFill>
                </a:rPr>
                <a:t>sφ[6]</a:t>
              </a:r>
              <a:r>
                <a:rPr lang="en-US" sz="1500">
                  <a:solidFill>
                    <a:schemeClr val="dk1"/>
                  </a:solidFill>
                </a:rPr>
                <a:t>: average approach speed</a:t>
              </a:r>
              <a:endParaRPr sz="150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8" name="Google Shape;168;p18"/>
            <p:cNvSpPr/>
            <p:nvPr/>
          </p:nvSpPr>
          <p:spPr>
            <a:xfrm>
              <a:off x="2734175" y="3367177"/>
              <a:ext cx="1332300" cy="285000"/>
            </a:xfrm>
            <a:prstGeom prst="round1Rect">
              <a:avLst>
                <a:gd fmla="val 50000" name="adj"/>
              </a:avLst>
            </a:prstGeom>
            <a:solidFill>
              <a:srgbClr val="085630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Environment State</a:t>
              </a:r>
              <a:endParaRPr sz="1600">
                <a:solidFill>
                  <a:srgbClr val="FFFFFF"/>
                </a:solidFill>
              </a:endParaRPr>
            </a:p>
          </p:txBody>
        </p:sp>
      </p:grpSp>
      <p:sp>
        <p:nvSpPr>
          <p:cNvPr id="169" name="Google Shape;169;p18"/>
          <p:cNvSpPr txBox="1"/>
          <p:nvPr/>
        </p:nvSpPr>
        <p:spPr>
          <a:xfrm>
            <a:off x="3683825" y="2392575"/>
            <a:ext cx="12471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500">
                <a:solidFill>
                  <a:schemeClr val="dk1"/>
                </a:solidFill>
              </a:rPr>
              <a:t>(Φg,Φy,Φr)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9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Experimental Setup</a:t>
            </a:r>
            <a:endParaRPr/>
          </a:p>
        </p:txBody>
      </p:sp>
      <p:sp>
        <p:nvSpPr>
          <p:cNvPr id="176" name="Google Shape;176;p19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Simulation Environment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731520" y="1554480"/>
            <a:ext cx="5303400" cy="24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Simulator: SUMO (Simulation of Urban Mobility)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Real traffic data from Utah DOT (2,092 intersections)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Test site: State St &amp; E 4500 S, Murray, Utah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10 traffic phases, 11 non-conflicting phase pairs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&gt;50,000 vehicles/day, peak rate: 95 cars/min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352 tunable parameters for regulatable policy</a:t>
            </a:r>
            <a:endParaRPr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Delay results are averaged over 30 episodes</a:t>
            </a:r>
            <a:endParaRPr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Traffic Demand Profiles</a:t>
            </a:r>
            <a:endParaRPr/>
          </a:p>
        </p:txBody>
      </p:sp>
      <p:sp>
        <p:nvSpPr>
          <p:cNvPr id="180" name="Google Shape;180;p19"/>
          <p:cNvSpPr/>
          <p:nvPr/>
        </p:nvSpPr>
        <p:spPr>
          <a:xfrm>
            <a:off x="6400800" y="1554480"/>
            <a:ext cx="5212080" cy="502920"/>
          </a:xfrm>
          <a:prstGeom prst="roundRect">
            <a:avLst>
              <a:gd fmla="val 16667" name="adj"/>
            </a:avLst>
          </a:prstGeom>
          <a:solidFill>
            <a:srgbClr val="E8F5EB"/>
          </a:solidFill>
          <a:ln cap="flat" cmpd="sng" w="12700">
            <a:solidFill>
              <a:srgbClr val="277A3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Low:      45,112 vehicles  |  1.04 v/sec  |  Wed May 1, 2019</a:t>
            </a:r>
            <a:endParaRPr/>
          </a:p>
        </p:txBody>
      </p:sp>
      <p:sp>
        <p:nvSpPr>
          <p:cNvPr id="181" name="Google Shape;181;p19"/>
          <p:cNvSpPr/>
          <p:nvPr/>
        </p:nvSpPr>
        <p:spPr>
          <a:xfrm>
            <a:off x="6400800" y="2148840"/>
            <a:ext cx="5212080" cy="502920"/>
          </a:xfrm>
          <a:prstGeom prst="roundRect">
            <a:avLst>
              <a:gd fmla="val 16667" name="adj"/>
            </a:avLst>
          </a:prstGeom>
          <a:solidFill>
            <a:srgbClr val="FDF0E0"/>
          </a:solidFill>
          <a:ln cap="flat" cmpd="sng" w="12700">
            <a:solidFill>
              <a:srgbClr val="D4A06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Medium:  51,298 vehicles  |  1.19 v/sec  |  Mon May 6, 2019</a:t>
            </a:r>
            <a:endParaRPr/>
          </a:p>
        </p:txBody>
      </p:sp>
      <p:sp>
        <p:nvSpPr>
          <p:cNvPr id="182" name="Google Shape;182;p19"/>
          <p:cNvSpPr/>
          <p:nvPr/>
        </p:nvSpPr>
        <p:spPr>
          <a:xfrm>
            <a:off x="6400800" y="2743200"/>
            <a:ext cx="5212080" cy="502920"/>
          </a:xfrm>
          <a:prstGeom prst="roundRect">
            <a:avLst>
              <a:gd fmla="val 16667" name="adj"/>
            </a:avLst>
          </a:prstGeom>
          <a:solidFill>
            <a:srgbClr val="FCEBE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High:     61,261 vehicles  |  1.42 v/sec  |  Fri Jun 21, 2019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6400800" y="356616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DQN Hyperparameters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6583680" y="40233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3 hidden layers, 64 units each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Replay buffer: 100,000 transitions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Minibatch size: 32  |  Optimizer: Adam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Epsilon-greedy: 0.05 → 0 after 20 episodes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Discount factor: 0.8 (low/med), 0.9 (high)</a:t>
            </a:r>
            <a:endParaRPr/>
          </a:p>
        </p:txBody>
      </p:sp>
      <p:sp>
        <p:nvSpPr>
          <p:cNvPr id="185" name="Google Shape;185;p19"/>
          <p:cNvSpPr txBox="1"/>
          <p:nvPr/>
        </p:nvSpPr>
        <p:spPr>
          <a:xfrm>
            <a:off x="548640" y="420624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Baseline: Actuated Signal Controller</a:t>
            </a:r>
            <a:endParaRPr/>
          </a:p>
        </p:txBody>
      </p:sp>
      <p:sp>
        <p:nvSpPr>
          <p:cNvPr id="186" name="Google Shape;186;p19"/>
          <p:cNvSpPr txBox="1"/>
          <p:nvPr/>
        </p:nvSpPr>
        <p:spPr>
          <a:xfrm>
            <a:off x="731520" y="4663440"/>
            <a:ext cx="53035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SUMO’s actuated controller (used in real deployments)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Phases in fixed order (protected lefts → through traffic)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Maximum green time: 300 seconds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This is what real intersections use today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0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Concept: Regulatable Control Function</a:t>
            </a:r>
            <a:endParaRPr/>
          </a:p>
        </p:txBody>
      </p:sp>
      <p:sp>
        <p:nvSpPr>
          <p:cNvPr id="193" name="Google Shape;193;p20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548640" y="1188720"/>
            <a:ext cx="5303520" cy="201168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Formal Definition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 precedence function g(s, Φ; θ) is regulatable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if for every state variable s[i]: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∂g/∂s[i]  ≥  0   for all states,   OR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   ∂g/∂s[i]  ≤  0   for all states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i.e., monotonic input-output relationships.</a:t>
            </a:r>
            <a:endParaRPr/>
          </a:p>
        </p:txBody>
      </p:sp>
      <p:sp>
        <p:nvSpPr>
          <p:cNvPr id="195" name="Google Shape;195;p20"/>
          <p:cNvSpPr/>
          <p:nvPr/>
        </p:nvSpPr>
        <p:spPr>
          <a:xfrm>
            <a:off x="6217920" y="1188720"/>
            <a:ext cx="5394960" cy="2011680"/>
          </a:xfrm>
          <a:prstGeom prst="roundRect">
            <a:avLst>
              <a:gd fmla="val 16667" name="adj"/>
            </a:avLst>
          </a:prstGeom>
          <a:solidFill>
            <a:srgbClr val="FDF0E0"/>
          </a:solidFill>
          <a:ln cap="flat" cmpd="sng" w="12700">
            <a:solidFill>
              <a:srgbClr val="D4A06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Practical Intuition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"Green was given to Phase 4 BECAUSE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stopped Southbound vehicles increased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while Eastbound queue decreased."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Every decision has a human-readable reason.</a:t>
            </a:r>
            <a:b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Engineers can adjust individual weights.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548640" y="356616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State Variables (per traffic phase):</a:t>
            </a:r>
            <a:endParaRPr/>
          </a:p>
        </p:txBody>
      </p:sp>
      <p:sp>
        <p:nvSpPr>
          <p:cNvPr id="197" name="Google Shape;197;p20"/>
          <p:cNvSpPr txBox="1"/>
          <p:nvPr/>
        </p:nvSpPr>
        <p:spPr>
          <a:xfrm>
            <a:off x="731520" y="40233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Stopped vehicles count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Approaching vehicles count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Cumulative stopped time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Average stopped time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Average queue length (stopped vehicles / lane count)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Average approaching vehicle speed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6217920" y="356616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Polynomial Precedence Function:</a:t>
            </a:r>
            <a:endParaRPr/>
          </a:p>
        </p:txBody>
      </p:sp>
      <p:sp>
        <p:nvSpPr>
          <p:cNvPr id="199" name="Google Shape;199;p20"/>
          <p:cNvSpPr/>
          <p:nvPr/>
        </p:nvSpPr>
        <p:spPr>
          <a:xfrm>
            <a:off x="6217920" y="4023360"/>
            <a:ext cx="5394960" cy="91440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2B6CB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g(s, Φ; θ') = Σφ∈Φ Σi=1..6  (wi · s[i])^pi   ×   Σj=1..4  (w'j · fj)^p'j</a:t>
            </a:r>
            <a:endParaRPr/>
          </a:p>
        </p:txBody>
      </p:sp>
      <p:sp>
        <p:nvSpPr>
          <p:cNvPr id="200" name="Google Shape;200;p20"/>
          <p:cNvSpPr txBox="1"/>
          <p:nvPr/>
        </p:nvSpPr>
        <p:spPr>
          <a:xfrm>
            <a:off x="6400800" y="51206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 Weights (w) and exponents (p) per state variable per phase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 For 8-phase intersection: 256 total tunable parameters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•  Proven regulatable via Lemma 1 (monotonic partial derivatives)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1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1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Algorithmic Approaches</a:t>
            </a:r>
            <a:endParaRPr/>
          </a:p>
        </p:txBody>
      </p:sp>
      <p:sp>
        <p:nvSpPr>
          <p:cNvPr id="207" name="Google Shape;207;p21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285775" y="1288175"/>
            <a:ext cx="3800400" cy="2312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chemeClr val="dk1"/>
                </a:solidFill>
              </a:rPr>
              <a:t>1. Deep Q-Network (DQN)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Uses a deep neural network to approximate Q-values for state–action pairs in reinforcement learning.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Serves as a high-performance baseline but lacks interpretability for real-world traffic control.</a:t>
            </a:r>
            <a:endParaRPr sz="15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/>
          <p:nvPr/>
        </p:nvSpPr>
        <p:spPr>
          <a:xfrm>
            <a:off x="8253450" y="1306350"/>
            <a:ext cx="3800400" cy="2312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3. Deep Regulatable Softmax Q-Learning (DRSQ)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Matches the probability distribution of actions (via softmax) instead of exact Q-values.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Improves flexibility and achieves better policy approximation than DRQ.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4238575" y="4264750"/>
            <a:ext cx="3800400" cy="2312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5. Proximal Policy Optimization (PPO)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Policy-gradient method ensuring stable and smooth learning updates.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Safe but slower convergence and often gets stuck in suboptimal solutions.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285775" y="4264750"/>
            <a:ext cx="3800400" cy="2312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4. Deep Regulatable Hardmax Q-Learning (DRHQ)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Learns only the best action (argmax) from DQN rather than full value distribution.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Most effective variant—fast convergence and strong performance with interpretability.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4269613" y="1306350"/>
            <a:ext cx="3800400" cy="2312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2. Deep Regulatable Q-Learning (DRQ)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Trains an interpretable (regulatable) function to directly match Q-values learned by DQN.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Simple approach, but struggles due to limited expressive power of the regulatable function.</a:t>
            </a:r>
            <a:endParaRPr b="1" sz="1500">
              <a:solidFill>
                <a:schemeClr val="dk1"/>
              </a:solidFill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8253450" y="4264750"/>
            <a:ext cx="3800400" cy="23124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6. Covariance Matrix Adaptation Evolution Strategy (CMA-ES)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Evolutionary optimization technique for tuning parameters without gradients.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Achieves strong results but is computationally expensive and impractical for online learning.</a:t>
            </a:r>
            <a:endParaRPr sz="15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2"/>
          <p:cNvSpPr/>
          <p:nvPr/>
        </p:nvSpPr>
        <p:spPr>
          <a:xfrm rot="10800000">
            <a:off x="5631925" y="1096425"/>
            <a:ext cx="6120300" cy="3728100"/>
          </a:xfrm>
          <a:prstGeom prst="round2SameRect">
            <a:avLst>
              <a:gd fmla="val 16667" name="adj1"/>
              <a:gd fmla="val 0" name="adj2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2"/>
          <p:cNvSpPr/>
          <p:nvPr/>
        </p:nvSpPr>
        <p:spPr>
          <a:xfrm rot="10800000">
            <a:off x="134500" y="1086625"/>
            <a:ext cx="5432700" cy="3683100"/>
          </a:xfrm>
          <a:prstGeom prst="round2SameRect">
            <a:avLst>
              <a:gd fmla="val 16667" name="adj1"/>
              <a:gd fmla="val 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2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2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DRQ Deep Regulatable Q-Learning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2"/>
          <p:cNvSpPr txBox="1"/>
          <p:nvPr/>
        </p:nvSpPr>
        <p:spPr>
          <a:xfrm>
            <a:off x="134500" y="1096550"/>
            <a:ext cx="5362800" cy="355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000">
                <a:solidFill>
                  <a:srgbClr val="1B3A5C"/>
                </a:solidFill>
              </a:rPr>
              <a:t>How DRQ Works</a:t>
            </a:r>
            <a:endParaRPr b="1" sz="1000">
              <a:solidFill>
                <a:srgbClr val="1B3A5C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1B3A5C"/>
                </a:solidFill>
              </a:rPr>
              <a:t>Objective Function:</a:t>
            </a:r>
            <a:endParaRPr b="1" sz="1000">
              <a:solidFill>
                <a:srgbClr val="1B3A5C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>
                <a:solidFill>
                  <a:schemeClr val="dk1"/>
                </a:solidFill>
              </a:rPr>
              <a:t>DRQ is used to align a simple, </a:t>
            </a:r>
            <a:r>
              <a:rPr b="1" lang="en-US" sz="1000">
                <a:solidFill>
                  <a:schemeClr val="dk1"/>
                </a:solidFill>
              </a:rPr>
              <a:t>regulatable function</a:t>
            </a:r>
            <a:r>
              <a:rPr lang="en-US" sz="1000">
                <a:solidFill>
                  <a:schemeClr val="dk1"/>
                </a:solidFill>
              </a:rPr>
              <a:t> ‘G’ with a complex Deep Q-Network so that the simple function can make the same decisions as the AI. </a:t>
            </a:r>
            <a:endParaRPr sz="1000">
              <a:solidFill>
                <a:schemeClr val="dk1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>
                <a:solidFill>
                  <a:schemeClr val="dk1"/>
                </a:solidFill>
              </a:rPr>
              <a:t>This allows for a </a:t>
            </a:r>
            <a:r>
              <a:rPr b="1" lang="en-US" sz="1000">
                <a:solidFill>
                  <a:schemeClr val="dk1"/>
                </a:solidFill>
              </a:rPr>
              <a:t>interpretable or controllable policy</a:t>
            </a:r>
            <a:r>
              <a:rPr lang="en-US" sz="1000">
                <a:solidFill>
                  <a:schemeClr val="dk1"/>
                </a:solidFill>
              </a:rPr>
              <a:t> that mimics the performance of a black-box model without needing the full complexity of a deep neural network.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1B3A5C"/>
                </a:solidFill>
              </a:rPr>
              <a:t>Core Mechanism: DRQ</a:t>
            </a:r>
            <a:endParaRPr b="1" sz="1000">
              <a:solidFill>
                <a:srgbClr val="1B3A5C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1F1F1F"/>
              </a:buClr>
              <a:buSzPts val="1000"/>
              <a:buChar char="●"/>
            </a:pPr>
            <a:r>
              <a:rPr b="1" lang="en-US" sz="1000">
                <a:solidFill>
                  <a:srgbClr val="1F1F1F"/>
                </a:solidFill>
              </a:rPr>
              <a:t>Dual-Network Architecture:</a:t>
            </a:r>
            <a:r>
              <a:rPr lang="en-US" sz="1000">
                <a:solidFill>
                  <a:srgbClr val="1F1F1F"/>
                </a:solidFill>
              </a:rPr>
              <a:t> Uses a standard </a:t>
            </a:r>
            <a:r>
              <a:rPr b="1" lang="en-US" sz="1000">
                <a:solidFill>
                  <a:srgbClr val="1F1F1F"/>
                </a:solidFill>
              </a:rPr>
              <a:t>DQN</a:t>
            </a:r>
            <a:r>
              <a:rPr lang="en-US" sz="1000">
                <a:solidFill>
                  <a:srgbClr val="1F1F1F"/>
                </a:solidFill>
              </a:rPr>
              <a:t> to learn optimal Q-values while training a </a:t>
            </a:r>
            <a:r>
              <a:rPr b="1" lang="en-US" sz="1000">
                <a:solidFill>
                  <a:srgbClr val="1F1F1F"/>
                </a:solidFill>
              </a:rPr>
              <a:t>Regulatable Function ‘G(s, a)’</a:t>
            </a:r>
            <a:r>
              <a:rPr lang="en-US" sz="1000">
                <a:solidFill>
                  <a:srgbClr val="1F1F1F"/>
                </a:solidFill>
              </a:rPr>
              <a:t> to approximate them.</a:t>
            </a:r>
            <a:endParaRPr sz="1000">
              <a:solidFill>
                <a:srgbClr val="1F1F1F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000"/>
              <a:buChar char="●"/>
            </a:pPr>
            <a:r>
              <a:rPr b="1" lang="en-US" sz="1000">
                <a:solidFill>
                  <a:srgbClr val="1F1F1F"/>
                </a:solidFill>
              </a:rPr>
              <a:t>Knowledge Distillation:</a:t>
            </a:r>
            <a:r>
              <a:rPr lang="en-US" sz="1000">
                <a:solidFill>
                  <a:srgbClr val="1F1F1F"/>
                </a:solidFill>
              </a:rPr>
              <a:t> ‘G’ learns via </a:t>
            </a:r>
            <a:r>
              <a:rPr b="1" lang="en-US" sz="1000">
                <a:solidFill>
                  <a:srgbClr val="1F1F1F"/>
                </a:solidFill>
              </a:rPr>
              <a:t>supervised regression</a:t>
            </a:r>
            <a:r>
              <a:rPr lang="en-US" sz="1000">
                <a:solidFill>
                  <a:srgbClr val="1F1F1F"/>
                </a:solidFill>
              </a:rPr>
              <a:t> using a squared loss function to mirror the DQN’s outputs.</a:t>
            </a:r>
            <a:endParaRPr sz="1000">
              <a:solidFill>
                <a:srgbClr val="1F1F1F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800"/>
              <a:buChar char="●"/>
            </a:pPr>
            <a:r>
              <a:rPr b="1" lang="en-US" sz="1000">
                <a:solidFill>
                  <a:schemeClr val="dk1"/>
                </a:solidFill>
              </a:rPr>
              <a:t>Training Stability:</a:t>
            </a:r>
            <a:r>
              <a:rPr lang="en-US" sz="1000">
                <a:solidFill>
                  <a:schemeClr val="dk1"/>
                </a:solidFill>
              </a:rPr>
              <a:t> Leverages a </a:t>
            </a:r>
            <a:r>
              <a:rPr b="1" lang="en-US" sz="1000">
                <a:solidFill>
                  <a:schemeClr val="dk1"/>
                </a:solidFill>
              </a:rPr>
              <a:t>replay buffer</a:t>
            </a:r>
            <a:r>
              <a:rPr lang="en-US" sz="1000">
                <a:solidFill>
                  <a:schemeClr val="dk1"/>
                </a:solidFill>
              </a:rPr>
              <a:t> and </a:t>
            </a:r>
            <a:r>
              <a:rPr b="1" lang="en-US" sz="1000">
                <a:solidFill>
                  <a:schemeClr val="dk1"/>
                </a:solidFill>
              </a:rPr>
              <a:t>target networks</a:t>
            </a:r>
            <a:r>
              <a:rPr lang="en-US" sz="1000">
                <a:solidFill>
                  <a:schemeClr val="dk1"/>
                </a:solidFill>
              </a:rPr>
              <a:t> to ensure consistent learning for both the Q-function and the regulatable approximator.</a:t>
            </a:r>
            <a:endParaRPr sz="1000">
              <a:solidFill>
                <a:schemeClr val="dk1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800"/>
              <a:buChar char="●"/>
            </a:pPr>
            <a:r>
              <a:rPr b="1" lang="en-US" sz="1000">
                <a:solidFill>
                  <a:schemeClr val="dk1"/>
                </a:solidFill>
              </a:rPr>
              <a:t>Constrained Optimization:</a:t>
            </a:r>
            <a:r>
              <a:rPr lang="en-US" sz="1000">
                <a:solidFill>
                  <a:schemeClr val="dk1"/>
                </a:solidFill>
              </a:rPr>
              <a:t> Designed to extract a manageable, interpretable policy from a high-capacity black-box model.</a:t>
            </a:r>
            <a:endParaRPr sz="10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1F1F1F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1B3A5C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224" name="Google Shape;224;p22"/>
          <p:cNvSpPr txBox="1"/>
          <p:nvPr/>
        </p:nvSpPr>
        <p:spPr>
          <a:xfrm>
            <a:off x="5781450" y="1176225"/>
            <a:ext cx="5970900" cy="3558600"/>
          </a:xfrm>
          <a:prstGeom prst="rect">
            <a:avLst/>
          </a:prstGeom>
          <a:solidFill>
            <a:srgbClr val="FCEBEB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00">
                <a:solidFill>
                  <a:srgbClr val="1B3A5C"/>
                </a:solidFill>
              </a:rPr>
              <a:t>Application in This Paper</a:t>
            </a:r>
            <a:endParaRPr b="1" sz="1300">
              <a:solidFill>
                <a:srgbClr val="1B3A5C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1B3A5C"/>
                </a:solidFill>
              </a:rPr>
              <a:t>Role:</a:t>
            </a:r>
            <a:endParaRPr b="1" sz="1100">
              <a:solidFill>
                <a:srgbClr val="1B3A5C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Basic regulatable Q-learning variant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Trains interpretable precedence function parameters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Enables action selection using a </a:t>
            </a:r>
            <a:r>
              <a:rPr b="1" lang="en-US" sz="1100">
                <a:solidFill>
                  <a:schemeClr val="dk1"/>
                </a:solidFill>
              </a:rPr>
              <a:t>human-regulatable policy</a:t>
            </a:r>
            <a:r>
              <a:rPr lang="en-US" sz="1100">
                <a:solidFill>
                  <a:schemeClr val="dk1"/>
                </a:solidFill>
              </a:rPr>
              <a:t> instead of DNN</a:t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1B3A5C"/>
                </a:solidFill>
              </a:rPr>
              <a:t>Why DRQ Was Chosen:</a:t>
            </a:r>
            <a:endParaRPr b="1" sz="1100">
              <a:solidFill>
                <a:srgbClr val="1B3A5C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Ensures policy interpretability and regulation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Leverages DQN for learning optimal behavior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Provides direct mapping between Q-values and control policy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Serves as baseline for improved variants (DRSQ, DRHQ)</a:t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2"/>
          <p:cNvSpPr/>
          <p:nvPr/>
        </p:nvSpPr>
        <p:spPr>
          <a:xfrm>
            <a:off x="134500" y="5260600"/>
            <a:ext cx="11732400" cy="109650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2"/>
          <p:cNvSpPr txBox="1"/>
          <p:nvPr/>
        </p:nvSpPr>
        <p:spPr>
          <a:xfrm>
            <a:off x="334350" y="5380375"/>
            <a:ext cx="11523000" cy="72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</a:rPr>
              <a:t>Key Property:</a:t>
            </a:r>
            <a:r>
              <a:rPr lang="en-US" sz="1100">
                <a:solidFill>
                  <a:schemeClr val="lt1"/>
                </a:solidFill>
              </a:rPr>
              <a:t> DRQ transfers knowledge from a deep Q-network to a regulatable function using value matching — but struggles due to limited flexibility of the interpretable model.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</a:rPr>
              <a:t>DRQ enforces direct matching between the regulatable function and Q-values, ensuring interpretability — but may limit performance due to constrained function representation.</a:t>
            </a:r>
            <a:endParaRPr b="1" sz="1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3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3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DRSQ Deep Regulatable Softmax Q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3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3"/>
          <p:cNvSpPr/>
          <p:nvPr/>
        </p:nvSpPr>
        <p:spPr>
          <a:xfrm>
            <a:off x="388675" y="2544050"/>
            <a:ext cx="5573100" cy="4015200"/>
          </a:xfrm>
          <a:prstGeom prst="roundRect">
            <a:avLst>
              <a:gd fmla="val 16667" name="adj"/>
            </a:avLst>
          </a:prstGeom>
          <a:solidFill>
            <a:srgbClr val="CCDDE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3"/>
          <p:cNvSpPr/>
          <p:nvPr/>
        </p:nvSpPr>
        <p:spPr>
          <a:xfrm>
            <a:off x="6379375" y="2544050"/>
            <a:ext cx="5252100" cy="3902700"/>
          </a:xfrm>
          <a:prstGeom prst="roundRect">
            <a:avLst>
              <a:gd fmla="val 16667" name="adj"/>
            </a:avLst>
          </a:prstGeom>
          <a:solidFill>
            <a:srgbClr val="FCEBEB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3"/>
          <p:cNvSpPr/>
          <p:nvPr/>
        </p:nvSpPr>
        <p:spPr>
          <a:xfrm>
            <a:off x="99575" y="1058250"/>
            <a:ext cx="11949300" cy="10962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3"/>
          <p:cNvSpPr txBox="1"/>
          <p:nvPr/>
        </p:nvSpPr>
        <p:spPr>
          <a:xfrm>
            <a:off x="212050" y="1143075"/>
            <a:ext cx="11309400" cy="13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lt1"/>
                </a:solidFill>
              </a:rPr>
              <a:t>Why DRSQ?</a:t>
            </a:r>
            <a:endParaRPr b="1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Directly matching Q-values (</a:t>
            </a:r>
            <a:r>
              <a:rPr b="1" lang="en-US" sz="1200">
                <a:solidFill>
                  <a:schemeClr val="lt1"/>
                </a:solidFill>
              </a:rPr>
              <a:t>DRQ</a:t>
            </a:r>
            <a:r>
              <a:rPr lang="en-US" sz="1200">
                <a:solidFill>
                  <a:schemeClr val="lt1"/>
                </a:solidFill>
              </a:rPr>
              <a:t>) is difficult for simple, interpretable models .Need a way to </a:t>
            </a:r>
            <a:r>
              <a:rPr b="1" lang="en-US" sz="1200">
                <a:solidFill>
                  <a:schemeClr val="lt1"/>
                </a:solidFill>
              </a:rPr>
              <a:t>simplify learning without losing decision quality</a:t>
            </a:r>
            <a:endParaRPr b="1" sz="12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3"/>
          <p:cNvSpPr txBox="1"/>
          <p:nvPr/>
        </p:nvSpPr>
        <p:spPr>
          <a:xfrm>
            <a:off x="806250" y="2801025"/>
            <a:ext cx="4754100" cy="34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Key Idea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Instead of exact values, learn </a:t>
            </a:r>
            <a:r>
              <a:rPr b="1" lang="en-US" sz="1200">
                <a:solidFill>
                  <a:schemeClr val="dk1"/>
                </a:solidFill>
              </a:rPr>
              <a:t>relative preference of actions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Preserve </a:t>
            </a:r>
            <a:r>
              <a:rPr b="1" lang="en-US" sz="1200">
                <a:solidFill>
                  <a:schemeClr val="dk1"/>
                </a:solidFill>
              </a:rPr>
              <a:t>decision behavior</a:t>
            </a:r>
            <a:r>
              <a:rPr lang="en-US" sz="1200">
                <a:solidFill>
                  <a:schemeClr val="dk1"/>
                </a:solidFill>
              </a:rPr>
              <a:t>, not numerical accuracy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How It Learns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Convert outputs of both models into </a:t>
            </a:r>
            <a:r>
              <a:rPr b="1" lang="en-US" sz="1200">
                <a:solidFill>
                  <a:schemeClr val="dk1"/>
                </a:solidFill>
              </a:rPr>
              <a:t>action-wise probabilities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Train G to </a:t>
            </a:r>
            <a:r>
              <a:rPr b="1" lang="en-US" sz="1200">
                <a:solidFill>
                  <a:schemeClr val="dk1"/>
                </a:solidFill>
              </a:rPr>
              <a:t>follow the same preference pattern</a:t>
            </a:r>
            <a:r>
              <a:rPr lang="en-US" sz="1200">
                <a:solidFill>
                  <a:schemeClr val="dk1"/>
                </a:solidFill>
              </a:rPr>
              <a:t> as the Q-network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Use </a:t>
            </a:r>
            <a:r>
              <a:rPr b="1" lang="en-US" sz="1200">
                <a:solidFill>
                  <a:schemeClr val="dk1"/>
                </a:solidFill>
              </a:rPr>
              <a:t>cross-entropy loss</a:t>
            </a:r>
            <a:r>
              <a:rPr lang="en-US" sz="1200">
                <a:solidFill>
                  <a:schemeClr val="dk1"/>
                </a:solidFill>
              </a:rPr>
              <a:t> for alignment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239" name="Google Shape;23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7625" y="5684700"/>
            <a:ext cx="3798600" cy="456875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3"/>
          <p:cNvSpPr txBox="1"/>
          <p:nvPr/>
        </p:nvSpPr>
        <p:spPr>
          <a:xfrm>
            <a:off x="6716675" y="2865275"/>
            <a:ext cx="4657800" cy="32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What Makes It Better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Easier for interpretable function to learn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Avoids strict requirement of matching Q-values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Maintains </a:t>
            </a:r>
            <a:r>
              <a:rPr b="1" lang="en-US" sz="1200">
                <a:solidFill>
                  <a:schemeClr val="dk1"/>
                </a:solidFill>
              </a:rPr>
              <a:t>correct ranking of actions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 Limitation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Still tries to learn </a:t>
            </a:r>
            <a:r>
              <a:rPr b="1" lang="en-US" sz="1200">
                <a:solidFill>
                  <a:schemeClr val="dk1"/>
                </a:solidFill>
              </a:rPr>
              <a:t>full action distribution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More information than actually needed for decision making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chemeClr val="dk1"/>
                </a:solidFill>
              </a:rPr>
              <a:t>Takeaway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Focuses on </a:t>
            </a:r>
            <a:r>
              <a:rPr i="1" lang="en-US" sz="1200">
                <a:solidFill>
                  <a:schemeClr val="dk1"/>
                </a:solidFill>
              </a:rPr>
              <a:t>“how actions compare”</a:t>
            </a:r>
            <a:r>
              <a:rPr lang="en-US" sz="1200">
                <a:solidFill>
                  <a:schemeClr val="dk1"/>
                </a:solidFill>
              </a:rPr>
              <a:t>, not exact values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4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4"/>
          <p:cNvSpPr txBox="1"/>
          <p:nvPr/>
        </p:nvSpPr>
        <p:spPr>
          <a:xfrm>
            <a:off x="548640" y="137160"/>
            <a:ext cx="109728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2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DRHQ Deep Regulatable Hardmax Q</a:t>
            </a:r>
            <a:endParaRPr b="1" sz="2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4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4"/>
          <p:cNvSpPr/>
          <p:nvPr/>
        </p:nvSpPr>
        <p:spPr>
          <a:xfrm>
            <a:off x="388675" y="2544050"/>
            <a:ext cx="5573100" cy="4015200"/>
          </a:xfrm>
          <a:prstGeom prst="roundRect">
            <a:avLst>
              <a:gd fmla="val 16667" name="adj"/>
            </a:avLst>
          </a:prstGeom>
          <a:solidFill>
            <a:srgbClr val="CCDDE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4"/>
          <p:cNvSpPr/>
          <p:nvPr/>
        </p:nvSpPr>
        <p:spPr>
          <a:xfrm>
            <a:off x="6379375" y="2544050"/>
            <a:ext cx="5252100" cy="3902700"/>
          </a:xfrm>
          <a:prstGeom prst="roundRect">
            <a:avLst>
              <a:gd fmla="val 16667" name="adj"/>
            </a:avLst>
          </a:prstGeom>
          <a:solidFill>
            <a:srgbClr val="FCEBEB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4"/>
          <p:cNvSpPr/>
          <p:nvPr/>
        </p:nvSpPr>
        <p:spPr>
          <a:xfrm>
            <a:off x="99575" y="1058250"/>
            <a:ext cx="11949300" cy="10962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4"/>
          <p:cNvSpPr txBox="1"/>
          <p:nvPr/>
        </p:nvSpPr>
        <p:spPr>
          <a:xfrm>
            <a:off x="212050" y="1143075"/>
            <a:ext cx="11309400" cy="140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lt1"/>
                </a:solidFill>
              </a:rPr>
              <a:t>Why DRHQ?</a:t>
            </a:r>
            <a:endParaRPr b="1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Even learning full action preferences (</a:t>
            </a:r>
            <a:r>
              <a:rPr b="1" lang="en-US" sz="1200">
                <a:solidFill>
                  <a:schemeClr val="lt1"/>
                </a:solidFill>
              </a:rPr>
              <a:t>DRSQ</a:t>
            </a:r>
            <a:r>
              <a:rPr lang="en-US" sz="1200">
                <a:solidFill>
                  <a:schemeClr val="lt1"/>
                </a:solidFill>
              </a:rPr>
              <a:t>) is unnecessary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For decision-making, we only need the </a:t>
            </a:r>
            <a:r>
              <a:rPr b="1" lang="en-US" sz="1200">
                <a:solidFill>
                  <a:schemeClr val="lt1"/>
                </a:solidFill>
              </a:rPr>
              <a:t>best action</a:t>
            </a:r>
            <a:endParaRPr b="1"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t/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806250" y="2801025"/>
            <a:ext cx="4754100" cy="34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Key Idea</a:t>
            </a:r>
            <a:endParaRPr b="1" sz="15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200">
                <a:solidFill>
                  <a:schemeClr val="dk1"/>
                </a:solidFill>
              </a:rPr>
              <a:t>Learn only </a:t>
            </a:r>
            <a:r>
              <a:rPr b="1" lang="en-US" sz="1200">
                <a:solidFill>
                  <a:schemeClr val="dk1"/>
                </a:solidFill>
              </a:rPr>
              <a:t>which action is optimal</a:t>
            </a:r>
            <a:endParaRPr b="1" sz="12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200">
                <a:solidFill>
                  <a:schemeClr val="dk1"/>
                </a:solidFill>
              </a:rPr>
              <a:t>Ignore exact values and relative differences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How It Learns</a:t>
            </a:r>
            <a:endParaRPr b="1" sz="15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Q-network identifies the </a:t>
            </a:r>
            <a:r>
              <a:rPr b="1" lang="en-US" sz="1200">
                <a:solidFill>
                  <a:schemeClr val="dk1"/>
                </a:solidFill>
              </a:rPr>
              <a:t>best action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Convert it into a </a:t>
            </a:r>
            <a:r>
              <a:rPr b="1" lang="en-US" sz="1200">
                <a:solidFill>
                  <a:schemeClr val="dk1"/>
                </a:solidFill>
              </a:rPr>
              <a:t>one-hot target</a:t>
            </a:r>
            <a:r>
              <a:rPr lang="en-US" sz="1200">
                <a:solidFill>
                  <a:schemeClr val="dk1"/>
                </a:solidFill>
              </a:rPr>
              <a:t>:</a:t>
            </a:r>
            <a:endParaRPr sz="1200">
              <a:solidFill>
                <a:schemeClr val="dk1"/>
              </a:solidFill>
            </a:endParaRPr>
          </a:p>
          <a:p>
            <a:pPr indent="-3048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Best action → 1</a:t>
            </a:r>
            <a:endParaRPr sz="1200">
              <a:solidFill>
                <a:schemeClr val="dk1"/>
              </a:solidFill>
            </a:endParaRPr>
          </a:p>
          <a:p>
            <a:pPr indent="-3048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Others → 0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Train G to </a:t>
            </a:r>
            <a:r>
              <a:rPr b="1" lang="en-US" sz="1200">
                <a:solidFill>
                  <a:schemeClr val="dk1"/>
                </a:solidFill>
              </a:rPr>
              <a:t>predict this choice</a:t>
            </a:r>
            <a:r>
              <a:rPr lang="en-US" sz="1200">
                <a:solidFill>
                  <a:schemeClr val="dk1"/>
                </a:solidFill>
              </a:rPr>
              <a:t> using softmax + log-loss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6716675" y="2865275"/>
            <a:ext cx="4657800" cy="32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What Makes It Better</a:t>
            </a:r>
            <a:endParaRPr b="1" sz="15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200">
                <a:solidFill>
                  <a:schemeClr val="dk1"/>
                </a:solidFill>
              </a:rPr>
              <a:t>Simplest learning objective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200">
                <a:solidFill>
                  <a:schemeClr val="dk1"/>
                </a:solidFill>
              </a:rPr>
              <a:t>Easier for interpretable function to learn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200">
                <a:solidFill>
                  <a:schemeClr val="dk1"/>
                </a:solidFill>
              </a:rPr>
              <a:t>Focuses directly on </a:t>
            </a:r>
            <a:r>
              <a:rPr b="1" lang="en-US" sz="1200">
                <a:solidFill>
                  <a:schemeClr val="dk1"/>
                </a:solidFill>
              </a:rPr>
              <a:t>decision-making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 Limitation</a:t>
            </a:r>
            <a:endParaRPr b="1" sz="15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200">
                <a:solidFill>
                  <a:schemeClr val="dk1"/>
                </a:solidFill>
              </a:rPr>
              <a:t>Achieves </a:t>
            </a:r>
            <a:r>
              <a:rPr b="1" lang="en-US" sz="1200">
                <a:solidFill>
                  <a:schemeClr val="dk1"/>
                </a:solidFill>
              </a:rPr>
              <a:t>best performance among variants</a:t>
            </a:r>
            <a:endParaRPr b="1" sz="12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200">
                <a:solidFill>
                  <a:schemeClr val="dk1"/>
                </a:solidFill>
              </a:rPr>
              <a:t>Up to </a:t>
            </a:r>
            <a:r>
              <a:rPr b="1" lang="en-US" sz="1200">
                <a:solidFill>
                  <a:schemeClr val="dk1"/>
                </a:solidFill>
              </a:rPr>
              <a:t>~19.4% reduction in delay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Takeaway</a:t>
            </a:r>
            <a:endParaRPr b="1" sz="15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200">
                <a:solidFill>
                  <a:schemeClr val="dk1"/>
                </a:solidFill>
              </a:rPr>
              <a:t>Learns </a:t>
            </a:r>
            <a:r>
              <a:rPr i="1" lang="en-US" sz="1200">
                <a:solidFill>
                  <a:schemeClr val="dk1"/>
                </a:solidFill>
              </a:rPr>
              <a:t>“which action to take”</a:t>
            </a:r>
            <a:r>
              <a:rPr lang="en-US" sz="1200">
                <a:solidFill>
                  <a:schemeClr val="dk1"/>
                </a:solidFill>
              </a:rPr>
              <a:t> — nothing extra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4" name="Google Shape;25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8213" y="5455775"/>
            <a:ext cx="3209925" cy="68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5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5"/>
          <p:cNvSpPr txBox="1"/>
          <p:nvPr/>
        </p:nvSpPr>
        <p:spPr>
          <a:xfrm>
            <a:off x="548640" y="137160"/>
            <a:ext cx="10972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CMA-ES (Covariance Matrix Adaptation Evolution Strategy)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5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2" name="Google Shape;26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4850" y="900895"/>
            <a:ext cx="11641274" cy="572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"/>
          <p:cNvSpPr/>
          <p:nvPr/>
        </p:nvSpPr>
        <p:spPr>
          <a:xfrm>
            <a:off x="0" y="0"/>
            <a:ext cx="12191700" cy="82290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6"/>
          <p:cNvSpPr txBox="1"/>
          <p:nvPr/>
        </p:nvSpPr>
        <p:spPr>
          <a:xfrm>
            <a:off x="548640" y="137160"/>
            <a:ext cx="10972800" cy="10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PPO (Proximal Policy Optimization)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6"/>
          <p:cNvSpPr/>
          <p:nvPr/>
        </p:nvSpPr>
        <p:spPr>
          <a:xfrm>
            <a:off x="0" y="822960"/>
            <a:ext cx="12191700" cy="36600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0" name="Google Shape;27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825" y="988400"/>
            <a:ext cx="5039364" cy="31581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30750" y="945813"/>
            <a:ext cx="5281501" cy="32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250" y="4286782"/>
            <a:ext cx="11887201" cy="22357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7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7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 Results: Average Vehicle Delay Comparison</a:t>
            </a:r>
            <a:endParaRPr/>
          </a:p>
        </p:txBody>
      </p:sp>
      <p:sp>
        <p:nvSpPr>
          <p:cNvPr id="279" name="Google Shape;279;p27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7"/>
          <p:cNvSpPr/>
          <p:nvPr/>
        </p:nvSpPr>
        <p:spPr>
          <a:xfrm>
            <a:off x="548640" y="1097280"/>
            <a:ext cx="11064240" cy="502920"/>
          </a:xfrm>
          <a:prstGeom prst="roundRect">
            <a:avLst>
              <a:gd fmla="val 16667" name="adj"/>
            </a:avLst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Average Vehicle Delay (seconds)  —  Lower is Better</a:t>
            </a:r>
            <a:endParaRPr/>
          </a:p>
        </p:txBody>
      </p:sp>
      <p:sp>
        <p:nvSpPr>
          <p:cNvPr id="281" name="Google Shape;281;p27"/>
          <p:cNvSpPr txBox="1"/>
          <p:nvPr/>
        </p:nvSpPr>
        <p:spPr>
          <a:xfrm>
            <a:off x="731520" y="17830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B3A5C"/>
                </a:solidFill>
                <a:latin typeface="Consolas"/>
                <a:ea typeface="Consolas"/>
                <a:cs typeface="Consolas"/>
                <a:sym typeface="Consolas"/>
              </a:rPr>
              <a:t>Method                         Low Demand        Medium Demand       High Demand</a:t>
            </a:r>
            <a:endParaRPr/>
          </a:p>
        </p:txBody>
      </p:sp>
      <p:sp>
        <p:nvSpPr>
          <p:cNvPr id="282" name="Google Shape;282;p27"/>
          <p:cNvSpPr/>
          <p:nvPr/>
        </p:nvSpPr>
        <p:spPr>
          <a:xfrm>
            <a:off x="731520" y="2103120"/>
            <a:ext cx="10515600" cy="18288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7"/>
          <p:cNvSpPr txBox="1"/>
          <p:nvPr/>
        </p:nvSpPr>
        <p:spPr>
          <a:xfrm>
            <a:off x="731520" y="22402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Actuated (Baseline)            ~60 sec            ~70 sec              ~95 sec</a:t>
            </a:r>
            <a:endParaRPr/>
          </a:p>
        </p:txBody>
      </p:sp>
      <p:sp>
        <p:nvSpPr>
          <p:cNvPr id="284" name="Google Shape;284;p27"/>
          <p:cNvSpPr/>
          <p:nvPr/>
        </p:nvSpPr>
        <p:spPr>
          <a:xfrm>
            <a:off x="731520" y="258775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7"/>
          <p:cNvSpPr txBox="1"/>
          <p:nvPr/>
        </p:nvSpPr>
        <p:spPr>
          <a:xfrm>
            <a:off x="731520" y="260604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CMA-ES                         ~50 sec            ~58 sec              ~85 sec</a:t>
            </a:r>
            <a:endParaRPr/>
          </a:p>
        </p:txBody>
      </p:sp>
      <p:sp>
        <p:nvSpPr>
          <p:cNvPr id="286" name="Google Shape;286;p27"/>
          <p:cNvSpPr/>
          <p:nvPr/>
        </p:nvSpPr>
        <p:spPr>
          <a:xfrm>
            <a:off x="731520" y="295351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7"/>
          <p:cNvSpPr txBox="1"/>
          <p:nvPr/>
        </p:nvSpPr>
        <p:spPr>
          <a:xfrm>
            <a:off x="731520" y="29718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C0392B"/>
                </a:solidFill>
                <a:latin typeface="Consolas"/>
                <a:ea typeface="Consolas"/>
                <a:cs typeface="Consolas"/>
                <a:sym typeface="Consolas"/>
              </a:rPr>
              <a:t>PPO                            ~55 sec            ~65 sec              ~95 sec  (fails in high)</a:t>
            </a:r>
            <a:endParaRPr/>
          </a:p>
        </p:txBody>
      </p:sp>
      <p:sp>
        <p:nvSpPr>
          <p:cNvPr id="288" name="Google Shape;288;p27"/>
          <p:cNvSpPr/>
          <p:nvPr/>
        </p:nvSpPr>
        <p:spPr>
          <a:xfrm>
            <a:off x="731520" y="331927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7"/>
          <p:cNvSpPr txBox="1"/>
          <p:nvPr/>
        </p:nvSpPr>
        <p:spPr>
          <a:xfrm>
            <a:off x="731520" y="33375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C0392B"/>
                </a:solidFill>
                <a:latin typeface="Consolas"/>
                <a:ea typeface="Consolas"/>
                <a:cs typeface="Consolas"/>
                <a:sym typeface="Consolas"/>
              </a:rPr>
              <a:t>DRQ                            Poor               Poor                 Poor</a:t>
            </a:r>
            <a:endParaRPr/>
          </a:p>
        </p:txBody>
      </p:sp>
      <p:sp>
        <p:nvSpPr>
          <p:cNvPr id="290" name="Google Shape;290;p27"/>
          <p:cNvSpPr/>
          <p:nvPr/>
        </p:nvSpPr>
        <p:spPr>
          <a:xfrm>
            <a:off x="731520" y="368503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7"/>
          <p:cNvSpPr txBox="1"/>
          <p:nvPr/>
        </p:nvSpPr>
        <p:spPr>
          <a:xfrm>
            <a:off x="731520" y="370332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DRSQ                           ~52 sec            ~62 sec              ~87 sec</a:t>
            </a:r>
            <a:endParaRPr/>
          </a:p>
        </p:txBody>
      </p:sp>
      <p:sp>
        <p:nvSpPr>
          <p:cNvPr id="292" name="Google Shape;292;p27"/>
          <p:cNvSpPr/>
          <p:nvPr/>
        </p:nvSpPr>
        <p:spPr>
          <a:xfrm>
            <a:off x="731520" y="405079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7"/>
          <p:cNvSpPr txBox="1"/>
          <p:nvPr/>
        </p:nvSpPr>
        <p:spPr>
          <a:xfrm>
            <a:off x="731520" y="406908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77A3E"/>
                </a:solidFill>
                <a:latin typeface="Consolas"/>
                <a:ea typeface="Consolas"/>
                <a:cs typeface="Consolas"/>
                <a:sym typeface="Consolas"/>
              </a:rPr>
              <a:t>DRHQ  (Best Interpretable)     ~50 sec            ~60 sec              ~85 sec</a:t>
            </a:r>
            <a:endParaRPr/>
          </a:p>
        </p:txBody>
      </p:sp>
      <p:sp>
        <p:nvSpPr>
          <p:cNvPr id="294" name="Google Shape;294;p27"/>
          <p:cNvSpPr/>
          <p:nvPr/>
        </p:nvSpPr>
        <p:spPr>
          <a:xfrm>
            <a:off x="731520" y="4416552"/>
            <a:ext cx="10515600" cy="9144"/>
          </a:xfrm>
          <a:prstGeom prst="rect">
            <a:avLst/>
          </a:prstGeom>
          <a:solidFill>
            <a:srgbClr val="E8E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7"/>
          <p:cNvSpPr txBox="1"/>
          <p:nvPr/>
        </p:nvSpPr>
        <p:spPr>
          <a:xfrm>
            <a:off x="731520" y="443484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B6CB3"/>
                </a:solidFill>
                <a:latin typeface="Consolas"/>
                <a:ea typeface="Consolas"/>
                <a:cs typeface="Consolas"/>
                <a:sym typeface="Consolas"/>
              </a:rPr>
              <a:t>DQN   (Black-box Upper Bound)  ~48 sec            ~57 sec              ~82 sec</a:t>
            </a:r>
            <a:endParaRPr/>
          </a:p>
        </p:txBody>
      </p:sp>
      <p:sp>
        <p:nvSpPr>
          <p:cNvPr id="296" name="Google Shape;296;p27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fmla="val 16667" name="adj"/>
            </a:avLst>
          </a:prstGeom>
          <a:solidFill>
            <a:srgbClr val="E8F5EB"/>
          </a:solidFill>
          <a:ln cap="flat" cmpd="sng" w="12700">
            <a:solidFill>
              <a:srgbClr val="277A3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Key Finding:  DRHQ achieves up to 19.4% reduced vehicle delay compared to deployed actuated controllers,</a:t>
            </a:r>
            <a:b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while remaining fully interpretable.  The gap vs. the black-box DQN is only 1–3 seconds.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8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8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Interpretation of Results</a:t>
            </a:r>
            <a:endParaRPr/>
          </a:p>
        </p:txBody>
      </p:sp>
      <p:sp>
        <p:nvSpPr>
          <p:cNvPr id="303" name="Google Shape;303;p28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8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Why DRHQ Works Best</a:t>
            </a:r>
            <a:endParaRPr/>
          </a:p>
        </p:txBody>
      </p:sp>
      <p:sp>
        <p:nvSpPr>
          <p:cNvPr id="305" name="Google Shape;305;p28"/>
          <p:cNvSpPr txBox="1"/>
          <p:nvPr/>
        </p:nvSpPr>
        <p:spPr>
          <a:xfrm>
            <a:off x="731520" y="1554480"/>
            <a:ext cx="5303400" cy="24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Only needs to match which action wins, not exact Q-values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Gives maximum flexibility to the polynomial function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Hardmax formulation directly targets policy equivalence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Converges within a single episode for low/medium demand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"Less is more": easier target = better practical fit</a:t>
            </a:r>
            <a:endParaRPr sz="1600"/>
          </a:p>
        </p:txBody>
      </p:sp>
      <p:sp>
        <p:nvSpPr>
          <p:cNvPr id="306" name="Google Shape;306;p28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Why Other Methods Fall Short</a:t>
            </a:r>
            <a:endParaRPr/>
          </a:p>
        </p:txBody>
      </p:sp>
      <p:sp>
        <p:nvSpPr>
          <p:cNvPr id="307" name="Google Shape;307;p28"/>
          <p:cNvSpPr txBox="1"/>
          <p:nvPr/>
        </p:nvSpPr>
        <p:spPr>
          <a:xfrm>
            <a:off x="6583680" y="1554480"/>
            <a:ext cx="5303400" cy="26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DRQ: Cannot approximate the full Q-function surface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DRSQ: Softmax ranking harder to match than just the winner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PPO: Over-regularized, converges to local optima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CMA-ES: Requires thousands of episodes, unsafe exploration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Pure polynomial/Fourier: Cannot complete basic scenarios</a:t>
            </a:r>
            <a:endParaRPr sz="1600"/>
          </a:p>
        </p:txBody>
      </p:sp>
      <p:sp>
        <p:nvSpPr>
          <p:cNvPr id="308" name="Google Shape;308;p28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Critical Insight</a:t>
            </a:r>
            <a:b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The performance gap between DRHQ (~50–85 sec) and the full black-box DQN (~48–82 sec) is only 1–3 seconds.</a:t>
            </a:r>
            <a:b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This marginal cost buys complete interpretability — every decision can be explained, audited,</a:t>
            </a:r>
            <a:b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and manually adjusted by traffic engineers.  For safety-critical infrastructure, this is an excellent trade-off.</a:t>
            </a:r>
            <a:endParaRPr sz="16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9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9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Limitations &amp; Future Scope</a:t>
            </a:r>
            <a:endParaRPr/>
          </a:p>
        </p:txBody>
      </p:sp>
      <p:sp>
        <p:nvSpPr>
          <p:cNvPr id="315" name="Google Shape;315;p29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9"/>
          <p:cNvSpPr txBox="1"/>
          <p:nvPr/>
        </p:nvSpPr>
        <p:spPr>
          <a:xfrm>
            <a:off x="548640" y="1097280"/>
            <a:ext cx="5303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Limitations of This Work</a:t>
            </a:r>
            <a:endParaRPr sz="1600"/>
          </a:p>
        </p:txBody>
      </p:sp>
      <p:sp>
        <p:nvSpPr>
          <p:cNvPr id="317" name="Google Shape;317;p29"/>
          <p:cNvSpPr txBox="1"/>
          <p:nvPr/>
        </p:nvSpPr>
        <p:spPr>
          <a:xfrm>
            <a:off x="731520" y="1554480"/>
            <a:ext cx="5303400" cy="42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Single intersection only — transferability is unknown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All results are from simulation (SUMO), no real-world test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CMA-ES is impractical despite showing ceiling performance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PPO fails under high demand scenarios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No warm-starting from existing controllers explored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352 parameters still requires significant compute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Limited to one geographic region (Utah traffic data only)</a:t>
            </a:r>
            <a:endParaRPr sz="1900"/>
          </a:p>
        </p:txBody>
      </p:sp>
      <p:sp>
        <p:nvSpPr>
          <p:cNvPr id="318" name="Google Shape;318;p29"/>
          <p:cNvSpPr txBox="1"/>
          <p:nvPr/>
        </p:nvSpPr>
        <p:spPr>
          <a:xfrm>
            <a:off x="6400800" y="1097280"/>
            <a:ext cx="5303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77A3E"/>
                </a:solidFill>
                <a:latin typeface="Calibri"/>
                <a:ea typeface="Calibri"/>
                <a:cs typeface="Calibri"/>
                <a:sym typeface="Calibri"/>
              </a:rPr>
              <a:t>Future Research Directions</a:t>
            </a:r>
            <a:endParaRPr sz="1600"/>
          </a:p>
        </p:txBody>
      </p:sp>
      <p:sp>
        <p:nvSpPr>
          <p:cNvPr id="319" name="Google Shape;319;p29"/>
          <p:cNvSpPr txBox="1"/>
          <p:nvPr/>
        </p:nvSpPr>
        <p:spPr>
          <a:xfrm>
            <a:off x="6583680" y="1554480"/>
            <a:ext cx="5303400" cy="42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Warm-starting from currently deployed controller behavior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Multi-intersection coordination &amp; network optimization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Real-world deployment and field testing validation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Transferability studies across intersection types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Incorporating pedestrian and cyclist signal phases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Adaptive parameter count based on intersection complexity</a:t>
            </a:r>
            <a:endParaRPr sz="19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•  Integration with connected &amp; autonomous vehicle data</a:t>
            </a:r>
            <a:endParaRPr sz="1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BFB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0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 &amp; Key Takeaways</a:t>
            </a:r>
            <a:endParaRPr/>
          </a:p>
        </p:txBody>
      </p:sp>
      <p:sp>
        <p:nvSpPr>
          <p:cNvPr id="326" name="Google Shape;326;p30"/>
          <p:cNvSpPr/>
          <p:nvPr/>
        </p:nvSpPr>
        <p:spPr>
          <a:xfrm>
            <a:off x="0" y="822960"/>
            <a:ext cx="12191695" cy="36576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30"/>
          <p:cNvSpPr txBox="1"/>
          <p:nvPr/>
        </p:nvSpPr>
        <p:spPr>
          <a:xfrm>
            <a:off x="914400" y="1188720"/>
            <a:ext cx="1033272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   Interpretable polynomial policies CAN match DNN performance (gap ≤ 1–3 sec)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   DRHQ (Hardmax variant) achieves 19.4% delay reduction vs. actuated controllers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   "Regulatable" = monotonic input-output relationship = human-understandable decisions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   Policy gradient methods (PPO) are unsuitable for traffic signal optimization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5.   The paper bridges the gap between AI performance and real-world deployability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6.   Interpretability is not a luxury — it is a requirement for safety-critical systems</a:t>
            </a:r>
            <a:endParaRPr/>
          </a:p>
        </p:txBody>
      </p:sp>
      <p:sp>
        <p:nvSpPr>
          <p:cNvPr id="328" name="Google Shape;328;p30"/>
          <p:cNvSpPr/>
          <p:nvPr/>
        </p:nvSpPr>
        <p:spPr>
          <a:xfrm>
            <a:off x="1828800" y="5303520"/>
            <a:ext cx="8503920" cy="822960"/>
          </a:xfrm>
          <a:prstGeom prst="roundRect">
            <a:avLst>
              <a:gd fmla="val 16667" name="adj"/>
            </a:avLst>
          </a:prstGeom>
          <a:solidFill>
            <a:srgbClr val="EEF2F7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"We can build AI systems that are both powerful and explainable.</a:t>
            </a:r>
            <a:br>
              <a:rPr b="0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We do not always have to choose one over the other."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31"/>
          <p:cNvSpPr/>
          <p:nvPr/>
        </p:nvSpPr>
        <p:spPr>
          <a:xfrm>
            <a:off x="-15088" y="2071003"/>
            <a:ext cx="12191695" cy="2560320"/>
          </a:xfrm>
          <a:prstGeom prst="rect">
            <a:avLst/>
          </a:prstGeom>
          <a:solidFill>
            <a:srgbClr val="152D4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1"/>
          <p:cNvSpPr txBox="1"/>
          <p:nvPr/>
        </p:nvSpPr>
        <p:spPr>
          <a:xfrm>
            <a:off x="1371600" y="2743200"/>
            <a:ext cx="9418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/>
          </a:p>
        </p:txBody>
      </p:sp>
      <p:sp>
        <p:nvSpPr>
          <p:cNvPr id="335" name="Google Shape;335;p31"/>
          <p:cNvSpPr/>
          <p:nvPr/>
        </p:nvSpPr>
        <p:spPr>
          <a:xfrm>
            <a:off x="5029200" y="3611880"/>
            <a:ext cx="2103120" cy="27432"/>
          </a:xfrm>
          <a:prstGeom prst="rect">
            <a:avLst/>
          </a:prstGeom>
          <a:solidFill>
            <a:srgbClr val="BBCCD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31"/>
          <p:cNvSpPr txBox="1"/>
          <p:nvPr/>
        </p:nvSpPr>
        <p:spPr>
          <a:xfrm>
            <a:off x="1371600" y="5760720"/>
            <a:ext cx="94183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Presented by:</a:t>
            </a:r>
            <a:endParaRPr/>
          </a:p>
        </p:txBody>
      </p:sp>
      <p:sp>
        <p:nvSpPr>
          <p:cNvPr id="337" name="Google Shape;337;p31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2B6CB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31"/>
          <p:cNvSpPr txBox="1"/>
          <p:nvPr/>
        </p:nvSpPr>
        <p:spPr>
          <a:xfrm>
            <a:off x="1386900" y="6099280"/>
            <a:ext cx="9418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Assignment Presentation : Devarshi Aggarwal </a:t>
            </a:r>
            <a:r>
              <a:rPr lang="en-US" sz="15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| Shantanu Pawar | Rithu Jalgar | Naman Dwivedi | Naaz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