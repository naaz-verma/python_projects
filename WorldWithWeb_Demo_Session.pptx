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8" d="100"/>
          <a:sy n="58" d="100"/>
        </p:scale>
        <p:origin x="964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C25B52-7199-4482-8FC4-A648D9702226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5C3235-8983-40FA-AC4B-1A059C60BF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7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C3235-8983-40FA-AC4B-1A059C60BFA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760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5C3235-8983-40FA-AC4B-1A059C60BFA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47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56032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rPr dirty="0"/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B4D8"/>
                </a:solidFill>
                <a:latin typeface="Calibri"/>
              </a:defRPr>
            </a:pPr>
            <a:r>
              <a:t>Learn Tech. Build Real Things.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rPr dirty="0"/>
              <a:t>Demo Session  |  Classes 8th - 1</a:t>
            </a:r>
            <a:r>
              <a:rPr lang="en-IN" dirty="0"/>
              <a:t>2</a:t>
            </a:r>
            <a:r>
              <a:rPr dirty="0"/>
              <a:t>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E676"/>
                </a:solidFill>
                <a:latin typeface="Calibri"/>
              </a:defRPr>
            </a:pPr>
            <a:r>
              <a:t>Quick Question...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Calibri"/>
              </a:defRPr>
            </a:pPr>
            <a:r>
              <a:t>"What did you use AI for today?"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ChatGPT for homework?    Image generators?    Gaming AI?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You're already using AI.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CCCCC"/>
                </a:solidFill>
                <a:latin typeface="Calibri"/>
              </a:defRPr>
            </a:pPr>
            <a:r>
              <a:t>But there's a difference between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3657600"/>
            <a:ext cx="320040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3931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9F1C"/>
                </a:solidFill>
                <a:latin typeface="Calibri"/>
              </a:defRPr>
            </a:pPr>
            <a:r>
              <a:t>Using a tool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657600"/>
            <a:ext cx="3200400" cy="1828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393192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E676"/>
                </a:solidFill>
                <a:latin typeface="Calibri"/>
              </a:defRPr>
            </a:pPr>
            <a:r>
              <a:t>Building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41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Let me show you what </a:t>
            </a:r>
            <a:r>
              <a:rPr lang="en-IN" dirty="0"/>
              <a:t>we</a:t>
            </a:r>
            <a:r>
              <a:rPr dirty="0"/>
              <a:t> built.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B4D8"/>
                </a:solidFill>
                <a:latin typeface="Calibri"/>
              </a:defRPr>
            </a:pPr>
            <a:r>
              <a:t>7 projects. All Python. All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Calibri"/>
              </a:defRPr>
            </a:pPr>
            <a:r>
              <a:t>[ LIVE DEMO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6E"/>
                </a:solidFill>
                <a:latin typeface="Calibri"/>
              </a:defRPr>
            </a:pPr>
            <a: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Network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  <a:latin typeface="Calibri"/>
              </a:defRPr>
            </a:pPr>
            <a:r>
              <a:t>"This scans your own machine for open ports --</a:t>
            </a:r>
            <a:br/>
            <a:r>
              <a:t>the same way hackers find entry points."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6E"/>
                </a:solidFill>
                <a:latin typeface="Calibri"/>
              </a:defRPr>
            </a:pPr>
            <a:r>
              <a:t>What it does: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Scans network ports on any machine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Shows which doors are open to attackers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Real tool. Real cybersecurity.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1C"/>
                </a:solidFill>
                <a:latin typeface="Calibri"/>
              </a:defRPr>
            </a:pPr>
            <a: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Password Fortress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CCCCCC"/>
                </a:solidFill>
                <a:latin typeface="Calibri"/>
              </a:defRPr>
            </a:pPr>
            <a:r>
              <a:t>"Let's crack a password. Right now."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41148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931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1C"/>
                </a:solidFill>
                <a:latin typeface="Calibri"/>
              </a:defRPr>
            </a:pPr>
            <a:r>
              <a:t>Password: "abc"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456E"/>
                </a:solidFill>
                <a:latin typeface="Calibri"/>
              </a:defRPr>
            </a:pPr>
            <a:r>
              <a:t>Cracked in 0.001 seconds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Your Instagram is gone.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657600"/>
            <a:ext cx="5029200" cy="22860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393192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rPr dirty="0"/>
              <a:t>Password: "X#9kL2$m"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00E676"/>
                </a:solidFill>
                <a:latin typeface="Calibri"/>
              </a:defRPr>
            </a:pPr>
            <a:r>
              <a:rPr dirty="0"/>
              <a:t>Would take years to crack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rPr dirty="0"/>
              <a:t>This is why password strength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Quiz Master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  <a:latin typeface="Calibri"/>
              </a:defRPr>
            </a:pPr>
            <a:r>
              <a:t>"Pick ANY topic. The AI generates a quiz in real-time."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What's happening behind the scenes: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Python sends a prompt to an AI model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generates questions in JSON format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Streamlit renders it as a web app</a:t>
            </a:r>
          </a:p>
          <a:p>
            <a:pPr algn="l">
              <a:spcBef>
                <a:spcPts val="600"/>
              </a:spcBef>
              <a:defRPr sz="2200" b="1">
                <a:solidFill>
                  <a:srgbClr val="00E676"/>
                </a:solidFill>
                <a:latin typeface="Calibri"/>
              </a:defRPr>
            </a:pPr>
            <a:r>
              <a:t>"I built this. The AI is the brain, but I wrote the body."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DEMOS 4 &amp;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AI Chatbot  &amp;  Story Forge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BB86FC"/>
                </a:solidFill>
                <a:latin typeface="Calibri"/>
              </a:defRPr>
            </a:pPr>
            <a:r>
              <a:t>AI Chatbot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"Looks like ChatGPT?"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But I control: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  Which AI model it uses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  What personality it has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  What data it can see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560320"/>
            <a:ext cx="5029200" cy="32004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E676"/>
                </a:solidFill>
                <a:latin typeface="Calibri"/>
              </a:defRPr>
            </a:pPr>
            <a:r>
              <a:t>Story Forge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CCCCCC"/>
                </a:solidFill>
                <a:latin typeface="Calibri"/>
              </a:defRPr>
            </a:pPr>
            <a:r>
              <a:t>"Choose your adventure."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 pick a genre + character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AI writes the story in real-time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FFFFFF"/>
                </a:solidFill>
                <a:latin typeface="Calibri"/>
              </a:defRPr>
            </a:pPr>
            <a:r>
              <a:t>Your choices shape the plot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7315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B4D8"/>
                </a:solidFill>
                <a:latin typeface="Calibri"/>
              </a:defRPr>
            </a:pPr>
            <a:r>
              <a:t>Behind the curtain...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8503920" cy="22860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0" y="24688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Consolas"/>
              </a:defRPr>
            </a:pPr>
            <a:r>
              <a:t>utils.py  --  70 lines of Python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00E676"/>
                </a:solidFill>
                <a:latin typeface="Consolas"/>
              </a:defRPr>
            </a:pPr>
            <a:r>
              <a:t>url = "https://ai.googleapis.com/v1/models/gemma:generateContent"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E676"/>
                </a:solidFill>
                <a:latin typeface="Consolas"/>
              </a:defRPr>
            </a:pPr>
            <a:r>
              <a:t>response = requests.post(url, json=data)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00E676"/>
                </a:solidFill>
                <a:latin typeface="Consolas"/>
              </a:defRPr>
            </a:pPr>
            <a:r>
              <a:t>return response.json()["candidates"][0]["content"]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This is ALL the code that connects to AI.</a:t>
            </a:r>
            <a:br/>
            <a:r>
              <a:t>Not magic. Python + an API + knowing how the internet works.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Three Levels of Tech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99999"/>
                </a:solidFill>
                <a:latin typeface="Calibri"/>
              </a:defRPr>
            </a:pPr>
            <a:r>
              <a:t>Level 1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999999"/>
                </a:solidFill>
                <a:latin typeface="Calibri"/>
              </a:defRPr>
            </a:pPr>
            <a:r>
              <a:t>USER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CCCCCC"/>
                </a:solidFill>
                <a:latin typeface="Calibri"/>
              </a:defRPr>
            </a:pPr>
            <a:r>
              <a:t>You type prompts into ChatGPT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Everyone is here.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999999"/>
                </a:solidFill>
                <a:latin typeface="Calibri"/>
              </a:defRPr>
            </a:pPr>
            <a:r>
              <a:t>No advantage.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Level 2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00B4D8"/>
                </a:solidFill>
                <a:latin typeface="Calibri"/>
              </a:defRPr>
            </a:pPr>
            <a:r>
              <a:t>BUILDER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You make AI do what YOU want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Build apps, tools, businesses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Few people are here.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B4D8"/>
                </a:solidFill>
                <a:latin typeface="Calibri"/>
              </a:defRPr>
            </a:pPr>
            <a:r>
              <a:t>This is where jobs 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0" y="173736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Level 3</a:t>
            </a:r>
          </a:p>
          <a:p>
            <a:pPr algn="l">
              <a:spcBef>
                <a:spcPts val="600"/>
              </a:spcBef>
              <a:defRPr sz="3200" b="1">
                <a:solidFill>
                  <a:srgbClr val="00E676"/>
                </a:solidFill>
                <a:latin typeface="Calibri"/>
              </a:defRPr>
            </a:pPr>
            <a:r>
              <a:t>CREATOR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You understand the systems behind AI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You CREATE the next ChatGPT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Almost nobody your age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00E676"/>
                </a:solidFill>
                <a:latin typeface="Calibri"/>
              </a:defRPr>
            </a:pPr>
            <a:r>
              <a:t>is here. This is the future.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521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B4D8"/>
                </a:solidFill>
                <a:latin typeface="Calibri"/>
              </a:defRPr>
            </a:pPr>
            <a:r>
              <a:t>We take you from Level 1 to Level 2. And prepare you for Level 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9F1C"/>
                </a:solidFill>
                <a:latin typeface="Calibri"/>
              </a:defRPr>
            </a:pPr>
            <a:r>
              <a:t>"But AI can write code. Why learn?"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Calculators exist. We still learn math.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FFFFFF"/>
                </a:solidFill>
                <a:latin typeface="Calibri"/>
              </a:defRPr>
            </a:pPr>
            <a:r>
              <a:t>You need to know WHEN to use AI,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FFFFFF"/>
                </a:solidFill>
                <a:latin typeface="Calibri"/>
              </a:defRPr>
            </a:pPr>
            <a:r>
              <a:t>WHETHER the answer is right,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FFFFFF"/>
                </a:solidFill>
                <a:latin typeface="Calibri"/>
              </a:defRPr>
            </a:pPr>
            <a:r>
              <a:t>and WHAT to ask.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defRPr sz="2600" b="0">
                <a:solidFill>
                  <a:srgbClr val="CCCCCC"/>
                </a:solidFill>
                <a:latin typeface="Calibri"/>
              </a:defRPr>
            </a:pPr>
            <a:r>
              <a:t>If you can't tell whether AI's output is correct,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CCCCCC"/>
                </a:solidFill>
                <a:latin typeface="Calibri"/>
              </a:defRPr>
            </a:pPr>
            <a:r>
              <a:t>secure, or efficient --</a:t>
            </a:r>
          </a:p>
          <a:p>
            <a:pPr algn="l">
              <a:spcBef>
                <a:spcPts val="400"/>
              </a:spcBef>
              <a:defRPr sz="2600" b="0">
                <a:solidFill>
                  <a:srgbClr val="CCCCCC"/>
                </a:solidFill>
                <a:latin typeface="Calibri"/>
              </a:defRPr>
            </a:pPr>
            <a:endParaRPr/>
          </a:p>
          <a:p>
            <a:pPr algn="l">
              <a:spcBef>
                <a:spcPts val="400"/>
              </a:spcBef>
              <a:defRPr sz="2600" b="0">
                <a:solidFill>
                  <a:srgbClr val="FF9F1C"/>
                </a:solidFill>
                <a:latin typeface="Calibri"/>
              </a:defRPr>
            </a:pPr>
            <a:r>
              <a:t>you're not the builder. You're the passenger.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Let's address the hype.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51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830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6E"/>
                </a:solidFill>
                <a:latin typeface="Calibri"/>
              </a:defRPr>
            </a:pPr>
            <a:r>
              <a:t>"AI will replace coders"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73736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AI replaces coders who can't think.</a:t>
            </a:r>
            <a:br/>
            <a:r>
              <a:t>It amplifies coders who 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10698480" cy="1051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1C"/>
                </a:solidFill>
                <a:latin typeface="Calibri"/>
              </a:defRPr>
            </a:pPr>
            <a:r>
              <a:t>"I can just use ChatGPT"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97180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Sure. So can everyone else.</a:t>
            </a:r>
            <a:br/>
            <a:r>
              <a:t>What's YOUR edge?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1051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251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Calibri"/>
              </a:defRPr>
            </a:pPr>
            <a:r>
              <a:t>"School math is useless"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20624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The password cracker you just saw?</a:t>
            </a:r>
            <a:br/>
            <a:r>
              <a:t>That's combinatorics from your math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49240"/>
            <a:ext cx="10698480" cy="105156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"I want to be a hacker"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440680"/>
            <a:ext cx="5943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Great. Hackers are the best learners</a:t>
            </a:r>
            <a:br/>
            <a:r>
              <a:t>I know. Let's channel that.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Start Your Portfolio Now.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rPr dirty="0"/>
              <a:t>In 8th-1</a:t>
            </a:r>
            <a:r>
              <a:rPr lang="en-IN" dirty="0"/>
              <a:t>2</a:t>
            </a:r>
            <a:r>
              <a:rPr dirty="0" err="1"/>
              <a:t>th</a:t>
            </a:r>
            <a:r>
              <a:rPr dirty="0"/>
              <a:t> grade, nobody expects you to have one.</a:t>
            </a:r>
            <a:br>
              <a:rPr dirty="0"/>
            </a:br>
            <a:r>
              <a:rPr dirty="0"/>
              <a:t>That's exactly why having one is powerful.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017520"/>
            <a:ext cx="438912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645920" y="32918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99999"/>
                </a:solidFill>
                <a:latin typeface="Calibri"/>
              </a:defRPr>
            </a:pPr>
            <a:r>
              <a:t>Student A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CCCCCC"/>
                </a:solidFill>
                <a:latin typeface="Calibri"/>
              </a:defRPr>
            </a:pPr>
            <a:r>
              <a:t>"I know Python."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999999"/>
                </a:solidFill>
                <a:latin typeface="Calibri"/>
              </a:defRPr>
            </a:pPr>
            <a:r>
              <a:t>No proof. No projects.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999999"/>
                </a:solidFill>
                <a:latin typeface="Calibri"/>
              </a:defRPr>
            </a:pPr>
            <a:r>
              <a:t>Just a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017520"/>
            <a:ext cx="4389120" cy="27432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329184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E676"/>
                </a:solidFill>
                <a:latin typeface="Calibri"/>
              </a:defRPr>
            </a:pPr>
            <a:r>
              <a:t>Student B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Opens laptop. Shows a live</a:t>
            </a:r>
          </a:p>
          <a:p>
            <a:pPr algn="l">
              <a:spcBef>
                <a:spcPts val="600"/>
              </a:spcBef>
              <a:defRPr sz="2200" b="0">
                <a:solidFill>
                  <a:srgbClr val="FFFFFF"/>
                </a:solidFill>
                <a:latin typeface="Calibri"/>
              </a:defRPr>
            </a:pPr>
            <a:r>
              <a:t>AI chatbot they built.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2000" b="0">
                <a:solidFill>
                  <a:srgbClr val="00E676"/>
                </a:solidFill>
                <a:latin typeface="Calibri"/>
              </a:defRPr>
            </a:pPr>
            <a:r>
              <a:t>7 projects. Real portfolio.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43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Your 6-Week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05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0B4D8"/>
                </a:solidFill>
                <a:latin typeface="Calibri"/>
              </a:defRPr>
            </a:pPr>
            <a:r>
              <a:t>Learn.  Build.  Amplify.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56616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Calibri"/>
              </a:defRPr>
            </a:pPr>
            <a:r>
              <a:t>Phase 1: Foundation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Weeks 1-2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Python fundamentals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Logic &amp; problem-solving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No AI. Intentionally.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Project:</a:t>
            </a:r>
          </a:p>
          <a:p>
            <a:pPr algn="l">
              <a:spcBef>
                <a:spcPts val="600"/>
              </a:spcBef>
              <a:defRPr sz="1800" b="1">
                <a:solidFill>
                  <a:srgbClr val="FF9F1C"/>
                </a:solidFill>
                <a:latin typeface="Calibri"/>
              </a:defRPr>
            </a:pPr>
            <a:r>
              <a:t>Password Fortress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AI role: None.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"Learn to think first."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2011680"/>
            <a:ext cx="356616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Calibri"/>
              </a:defRPr>
            </a:pPr>
            <a:r>
              <a:t>Phase 2: Building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Weeks 3-4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APIs, web apps, OOP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How AI models work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Connect to real AI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Projects:</a:t>
            </a:r>
          </a:p>
          <a:p>
            <a:pPr algn="l">
              <a:spcBef>
                <a:spcPts val="600"/>
              </a:spcBef>
              <a:defRPr sz="1700" b="1">
                <a:solidFill>
                  <a:srgbClr val="00B4D8"/>
                </a:solidFill>
                <a:latin typeface="Calibri"/>
              </a:defRPr>
            </a:pPr>
            <a:r>
              <a:t>Quiz Master, Space Defender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AI role: Learning tool.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"Ask better questions."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566160" cy="41148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0" y="22860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76"/>
                </a:solidFill>
                <a:latin typeface="Calibri"/>
              </a:defRPr>
            </a:pPr>
            <a:r>
              <a:t>Phase 3: Amplify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Weeks 5-6</a:t>
            </a:r>
          </a:p>
          <a:p>
            <a:pPr algn="l"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Full AI-powered apps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Design your own project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FFFFFF"/>
                </a:solidFill>
                <a:latin typeface="Calibri"/>
              </a:defRPr>
            </a:pPr>
            <a:r>
              <a:t>Portfolio ready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Projects:</a:t>
            </a:r>
          </a:p>
          <a:p>
            <a:pPr algn="l">
              <a:spcBef>
                <a:spcPts val="600"/>
              </a:spcBef>
              <a:defRPr sz="1700" b="1">
                <a:solidFill>
                  <a:srgbClr val="00E676"/>
                </a:solidFill>
                <a:latin typeface="Calibri"/>
              </a:defRPr>
            </a:pPr>
            <a:r>
              <a:t>Chatbot, Tutor, Story Forge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Bef>
                <a:spcPts val="600"/>
              </a:spcBef>
              <a:defRPr sz="1600" b="0">
                <a:solidFill>
                  <a:srgbClr val="999999"/>
                </a:solidFill>
                <a:latin typeface="Calibri"/>
              </a:defRPr>
            </a:pPr>
            <a:r>
              <a:t>AI role: Co-builder.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"You + AI = 10x"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9144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Difference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2286000"/>
            <a:ext cx="941832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4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456E"/>
                </a:solidFill>
                <a:latin typeface="Consolas"/>
              </a:defRPr>
            </a:pPr>
            <a:r>
              <a:rPr dirty="0"/>
              <a:t>Without foundation--&gt;Use AI blindly--&gt;</a:t>
            </a:r>
            <a:r>
              <a:rPr lang="en-IN" dirty="0"/>
              <a:t>       </a:t>
            </a:r>
            <a:r>
              <a:rPr dirty="0"/>
              <a:t>You're replaceable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114800"/>
            <a:ext cx="9418320" cy="137160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4297680"/>
            <a:ext cx="8503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E676"/>
                </a:solidFill>
                <a:latin typeface="Consolas"/>
              </a:defRPr>
            </a:pPr>
            <a:r>
              <a:rPr dirty="0"/>
              <a:t>With foundation--&gt;Direct AI--&gt;</a:t>
            </a:r>
            <a:r>
              <a:rPr lang="en-IN" dirty="0"/>
              <a:t>              </a:t>
            </a:r>
            <a:r>
              <a:rPr dirty="0"/>
              <a:t>You're invaluable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If you could build ANY</a:t>
            </a:r>
            <a:br/>
            <a:r>
              <a:t>app or tool...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E676"/>
                </a:solidFill>
                <a:latin typeface="Calibri"/>
              </a:defRPr>
            </a:pPr>
            <a:r>
              <a:t>What would it 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18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rPr dirty="0"/>
              <a:t>[ Open discussion</a:t>
            </a:r>
            <a:r>
              <a:rPr lang="en-IN" dirty="0"/>
              <a:t> 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57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What's Coming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18320" cy="960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9659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F1C"/>
                </a:solidFill>
                <a:latin typeface="Calibri"/>
              </a:defRPr>
            </a:pPr>
            <a:r>
              <a:t>Week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965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Python Fundamentals + Password Fortress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9418320" cy="960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3154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Calibri"/>
              </a:defRPr>
            </a:pPr>
            <a:r>
              <a:t>Week 3-4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1546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APIs + Web Apps + AI 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206240"/>
            <a:ext cx="9418320" cy="960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45920" y="4343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Calibri"/>
              </a:defRPr>
            </a:pPr>
            <a:r>
              <a:t>Week 5-6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343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Full AI Apps + Your Own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5394960"/>
            <a:ext cx="9418320" cy="960120"/>
          </a:xfrm>
          <a:prstGeom prst="roundRect">
            <a:avLst/>
          </a:prstGeom>
          <a:solidFill>
            <a:srgbClr val="252540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55321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BB86FC"/>
                </a:solidFill>
                <a:latin typeface="Calibri"/>
              </a:defRPr>
            </a:pPr>
            <a:r>
              <a:t>Bonus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5532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Linux, Git, Web Scraping, CTF, Hackathon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0" y="2286000"/>
            <a:ext cx="3931920" cy="50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WorldWithWeb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00B4D8"/>
                </a:solidFill>
                <a:latin typeface="Calibri"/>
              </a:defRPr>
            </a:pPr>
            <a:r>
              <a:t>Don't learn to code. Code to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Calibri"/>
              </a:defRPr>
            </a:pPr>
            <a:r>
              <a:t>worldwithweb.com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ctr">
              <a:spcBef>
                <a:spcPts val="600"/>
              </a:spcBef>
              <a:defRPr sz="2800" b="1">
                <a:solidFill>
                  <a:srgbClr val="00E676"/>
                </a:solidFill>
                <a:latin typeface="Calibri"/>
              </a:defRPr>
            </a:pPr>
            <a:r>
              <a:t>Let's build something.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883</Words>
  <Application>Microsoft Office PowerPoint</Application>
  <PresentationFormat>Widescreen</PresentationFormat>
  <Paragraphs>177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Naaz Verma</cp:lastModifiedBy>
  <cp:revision>5</cp:revision>
  <dcterms:created xsi:type="dcterms:W3CDTF">2013-01-27T09:14:16Z</dcterms:created>
  <dcterms:modified xsi:type="dcterms:W3CDTF">2026-03-20T11:28:09Z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63535f3-a261-44fa-a080-b5a7b0a48f70_Enabled">
    <vt:lpwstr>true</vt:lpwstr>
  </property>
  <property fmtid="{D5CDD505-2E9C-101B-9397-08002B2CF9AE}" pid="3" name="MSIP_Label_163535f3-a261-44fa-a080-b5a7b0a48f70_SetDate">
    <vt:lpwstr>2026-03-19T10:47:17Z</vt:lpwstr>
  </property>
  <property fmtid="{D5CDD505-2E9C-101B-9397-08002B2CF9AE}" pid="4" name="MSIP_Label_163535f3-a261-44fa-a080-b5a7b0a48f70_Method">
    <vt:lpwstr>Standard</vt:lpwstr>
  </property>
  <property fmtid="{D5CDD505-2E9C-101B-9397-08002B2CF9AE}" pid="5" name="MSIP_Label_163535f3-a261-44fa-a080-b5a7b0a48f70_Name">
    <vt:lpwstr>UKG DLP Protected</vt:lpwstr>
  </property>
  <property fmtid="{D5CDD505-2E9C-101B-9397-08002B2CF9AE}" pid="6" name="MSIP_Label_163535f3-a261-44fa-a080-b5a7b0a48f70_SiteId">
    <vt:lpwstr>7b6f35d2-1f98-4e5e-82eb-e78f6ea5a1de</vt:lpwstr>
  </property>
  <property fmtid="{D5CDD505-2E9C-101B-9397-08002B2CF9AE}" pid="7" name="MSIP_Label_163535f3-a261-44fa-a080-b5a7b0a48f70_ActionId">
    <vt:lpwstr>7976b93a-f383-45a7-b897-0ef347835533</vt:lpwstr>
  </property>
  <property fmtid="{D5CDD505-2E9C-101B-9397-08002B2CF9AE}" pid="8" name="MSIP_Label_163535f3-a261-44fa-a080-b5a7b0a48f70_ContentBits">
    <vt:lpwstr>0</vt:lpwstr>
  </property>
  <property fmtid="{D5CDD505-2E9C-101B-9397-08002B2CF9AE}" pid="9" name="MSIP_Label_163535f3-a261-44fa-a080-b5a7b0a48f70_Tag">
    <vt:lpwstr>10, 3, 0, 1</vt:lpwstr>
  </property>
</Properties>
</file>